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64" r:id="rId3"/>
    <p:sldId id="259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24B"/>
    <a:srgbClr val="66FF33"/>
    <a:srgbClr val="FF33CC"/>
    <a:srgbClr val="E2DD05"/>
    <a:srgbClr val="037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-510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AR" smtClean="0"/>
              <a:t>FICHA DE PROCESO                                                                            RIT_17_02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AR" smtClean="0"/>
              <a:t>26/02/2017</a:t>
            </a:r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0CBAE-A10E-4777-8B0F-69C2A3EB556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3866570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AR" smtClean="0"/>
              <a:t>FICHA DE PROCESO                                                                            RIT_17_02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AR" smtClean="0"/>
              <a:t>26/02/2017</a:t>
            </a:r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6ACE6-8E9F-4BF3-92F4-B13E118718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3736063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encabezado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AR" smtClean="0"/>
              <a:t>FICHA DE PROCESO                                                                            RIT_17_02</a:t>
            </a:r>
            <a:endParaRPr lang="es-AR"/>
          </a:p>
        </p:txBody>
      </p:sp>
      <p:sp>
        <p:nvSpPr>
          <p:cNvPr id="6" name="5 Marcador de fecha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s-AR" smtClean="0"/>
              <a:t>26/02/2017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3574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8712E-F5D9-4FBE-BFBA-16717E615C6D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AB9A-6D6F-4E7E-A4A0-4AF7FCE56BF8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05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FF4-66E5-41D9-8A7D-1275D22E8669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175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19675-FC53-4A26-8E62-2CC3BC4925C4}" type="datetime1">
              <a:rPr lang="es-AR" smtClean="0"/>
              <a:t>16/06/2017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40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A5FEF-A088-494A-9985-A7A35011511A}" type="datetime1">
              <a:rPr lang="es-AR" smtClean="0"/>
              <a:t>16/06/2017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973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9A92C-32FB-4124-9E83-F1F04FE1438B}" type="datetime1">
              <a:rPr lang="es-AR" smtClean="0"/>
              <a:t>16/06/2017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6802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C597B-E278-4BE8-BA23-26612BB5A713}" type="datetime1">
              <a:rPr lang="es-AR" smtClean="0"/>
              <a:t>16/06/2017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859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5293-2C3A-48C7-8DB8-44B6058900ED}" type="datetime1">
              <a:rPr lang="es-AR" smtClean="0"/>
              <a:t>16/06/2017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747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3931-299F-45B7-A426-20AF55FFD28D}" type="datetime1">
              <a:rPr lang="es-AR" smtClean="0"/>
              <a:t>16/06/2017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804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CB00-7092-424A-BC81-9C9DECAF8F7F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175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357AF-8B37-4457-B889-5208C537DBC9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790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27FBB-F29E-40C6-A4CE-F87E17680F65}" type="datetime1">
              <a:rPr lang="es-AR" smtClean="0"/>
              <a:t>16/06/2017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D69B9-BA6D-4BFB-A863-728A21026821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41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252627"/>
              </p:ext>
            </p:extLst>
          </p:nvPr>
        </p:nvGraphicFramePr>
        <p:xfrm>
          <a:off x="304800" y="927100"/>
          <a:ext cx="3987800" cy="27305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87800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351757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AL CONTEXTO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2378743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Económico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858953"/>
              </p:ext>
            </p:extLst>
          </p:nvPr>
        </p:nvGraphicFramePr>
        <p:xfrm>
          <a:off x="304800" y="3859747"/>
          <a:ext cx="3987800" cy="275444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987800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89941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AFECTAN AL CONTEXTO INTERNO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2464501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Político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ES" sz="100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Económico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Tecnológico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E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Ambiental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Blip>
                          <a:blip r:embed="rId3"/>
                        </a:buBlip>
                      </a:pPr>
                      <a:r>
                        <a:rPr lang="es-ES" sz="1000" b="1" u="sng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</a:t>
                      </a:r>
                      <a:r>
                        <a:rPr lang="es-ES" sz="1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>
                        <a:spcBef>
                          <a:spcPct val="50000"/>
                        </a:spcBef>
                        <a:buFontTx/>
                        <a:buNone/>
                      </a:pP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99449"/>
              </p:ext>
            </p:extLst>
          </p:nvPr>
        </p:nvGraphicFramePr>
        <p:xfrm>
          <a:off x="8953279" y="1089840"/>
          <a:ext cx="2981737" cy="2651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65042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EXTERNAS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 smtClean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Blip>
                          <a:blip r:embed="rId3"/>
                        </a:buBlip>
                      </a:pPr>
                      <a:endParaRPr lang="es-ES" sz="1000" b="0" u="none" dirty="0">
                        <a:solidFill>
                          <a:schemeClr val="tx1"/>
                        </a:solidFill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5048747" y="2808679"/>
            <a:ext cx="3120722" cy="812530"/>
          </a:xfrm>
          <a:prstGeom prst="rect">
            <a:avLst/>
          </a:prstGeom>
          <a:solidFill>
            <a:schemeClr val="bg2"/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b="1" u="sng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Proceso:</a:t>
            </a:r>
          </a:p>
          <a:p>
            <a:pPr algn="ctr">
              <a:spcBef>
                <a:spcPct val="60000"/>
              </a:spcBef>
            </a:pPr>
            <a:r>
              <a:rPr lang="es-ES" b="1" u="sng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Responsable:</a:t>
            </a: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21" name="Flecha: a la derecha 20"/>
          <p:cNvSpPr/>
          <p:nvPr/>
        </p:nvSpPr>
        <p:spPr>
          <a:xfrm rot="7845622">
            <a:off x="7977137" y="2194736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20" name="Tab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713344"/>
              </p:ext>
            </p:extLst>
          </p:nvPr>
        </p:nvGraphicFramePr>
        <p:xfrm>
          <a:off x="8953279" y="4100245"/>
          <a:ext cx="2981737" cy="24996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355798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PARTES INTERESADAS INTERNAS (Requerimientos)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2103392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baseline="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sp>
        <p:nvSpPr>
          <p:cNvPr id="23" name="Flecha: a la derecha 22"/>
          <p:cNvSpPr/>
          <p:nvPr/>
        </p:nvSpPr>
        <p:spPr>
          <a:xfrm rot="2925216">
            <a:off x="4418887" y="2193804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Flecha: a la derecha 23"/>
          <p:cNvSpPr/>
          <p:nvPr/>
        </p:nvSpPr>
        <p:spPr>
          <a:xfrm rot="18898619">
            <a:off x="4408912" y="4454316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Flecha: a la derecha 24"/>
          <p:cNvSpPr/>
          <p:nvPr/>
        </p:nvSpPr>
        <p:spPr>
          <a:xfrm rot="13810827">
            <a:off x="7978145" y="4429205"/>
            <a:ext cx="791994" cy="3975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394" y="165726"/>
            <a:ext cx="4397850" cy="751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091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265333"/>
              </p:ext>
            </p:extLst>
          </p:nvPr>
        </p:nvGraphicFramePr>
        <p:xfrm>
          <a:off x="426084" y="371724"/>
          <a:ext cx="2915120" cy="1451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6504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QUÉ?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1186773">
                <a:tc>
                  <a:txBody>
                    <a:bodyPr/>
                    <a:lstStyle/>
                    <a:p>
                      <a:pPr>
                        <a:spcBef>
                          <a:spcPct val="50000"/>
                        </a:spcBef>
                        <a:buFontTx/>
                        <a:buNone/>
                      </a:pP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9" name="Tab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63776"/>
              </p:ext>
            </p:extLst>
          </p:nvPr>
        </p:nvGraphicFramePr>
        <p:xfrm>
          <a:off x="400684" y="2404014"/>
          <a:ext cx="2915120" cy="184047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43616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15966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Blip>
                          <a:blip r:embed="rId2"/>
                        </a:buBlip>
                      </a:pPr>
                      <a:endParaRPr lang="es-E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2" name="Tab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784792"/>
              </p:ext>
            </p:extLst>
          </p:nvPr>
        </p:nvGraphicFramePr>
        <p:xfrm>
          <a:off x="400684" y="4642180"/>
          <a:ext cx="2915120" cy="200604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15120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354657">
                <a:tc>
                  <a:txBody>
                    <a:bodyPr/>
                    <a:lstStyle/>
                    <a:p>
                      <a:pPr algn="ctr"/>
                      <a:r>
                        <a:rPr lang="es-AR" dirty="0"/>
                        <a:t>¿</a:t>
                      </a:r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CÓMO</a:t>
                      </a:r>
                      <a:r>
                        <a:rPr lang="es-AR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1640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Blip>
                          <a:blip r:embed="rId2"/>
                        </a:buBlip>
                        <a:tabLst/>
                        <a:defRPr/>
                      </a:pPr>
                      <a:endParaRPr lang="es-A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41725"/>
              </p:ext>
            </p:extLst>
          </p:nvPr>
        </p:nvGraphicFramePr>
        <p:xfrm>
          <a:off x="8958469" y="5197137"/>
          <a:ext cx="2981737" cy="87434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165028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630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Tx/>
                        <a:buNone/>
                      </a:pPr>
                      <a:endParaRPr lang="es-AR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4" name="Tab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581390"/>
              </p:ext>
            </p:extLst>
          </p:nvPr>
        </p:nvGraphicFramePr>
        <p:xfrm>
          <a:off x="8958469" y="2388240"/>
          <a:ext cx="2981737" cy="190221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11190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SALIDAS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165837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ct val="40000"/>
                        </a:spcBef>
                        <a:buFontTx/>
                        <a:buNone/>
                      </a:pPr>
                      <a:endParaRPr lang="es-ES" sz="1000" dirty="0"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5" name="Tab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798219"/>
              </p:ext>
            </p:extLst>
          </p:nvPr>
        </p:nvGraphicFramePr>
        <p:xfrm>
          <a:off x="8958469" y="326005"/>
          <a:ext cx="2981737" cy="178904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737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265042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¿CON QUIÉN? PARTES INTERESADAS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>
                        <a:spcBef>
                          <a:spcPct val="20000"/>
                        </a:spcBef>
                        <a:buFontTx/>
                        <a:buNone/>
                      </a:pPr>
                      <a:endParaRPr lang="es-ES" sz="1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graphicFrame>
        <p:nvGraphicFramePr>
          <p:cNvPr id="16" name="Tab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852781"/>
              </p:ext>
            </p:extLst>
          </p:nvPr>
        </p:nvGraphicFramePr>
        <p:xfrm>
          <a:off x="3897397" y="5664767"/>
          <a:ext cx="4166596" cy="8646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166596">
                  <a:extLst>
                    <a:ext uri="{9D8B030D-6E8A-4147-A177-3AD203B41FA5}">
                      <a16:colId xmlns:a16="http://schemas.microsoft.com/office/drawing/2014/main" xmlns="" val="1157492327"/>
                    </a:ext>
                  </a:extLst>
                </a:gridCol>
              </a:tblGrid>
              <a:tr h="168983">
                <a:tc>
                  <a:txBody>
                    <a:bodyPr/>
                    <a:lstStyle/>
                    <a:p>
                      <a:pPr algn="ctr"/>
                      <a:r>
                        <a:rPr lang="es-A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190746"/>
                  </a:ext>
                </a:extLst>
              </a:tr>
              <a:tr h="62082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ct val="35000"/>
                        </a:spcBef>
                        <a:buFontTx/>
                        <a:buNone/>
                      </a:pPr>
                      <a:endParaRPr lang="es-ES" sz="10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747012"/>
                  </a:ext>
                </a:extLst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3803374" y="101049"/>
            <a:ext cx="4731026" cy="4379660"/>
          </a:xfrm>
          <a:prstGeom prst="rect">
            <a:avLst/>
          </a:prstGeom>
          <a:solidFill>
            <a:schemeClr val="bg2"/>
          </a:solidFill>
          <a:ln w="38100" cmpd="dbl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60000"/>
              </a:spcBef>
            </a:pPr>
            <a:r>
              <a:rPr lang="es-ES" sz="1100" b="1" u="sng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Proceso:</a:t>
            </a:r>
          </a:p>
          <a:p>
            <a:pPr algn="ctr">
              <a:spcBef>
                <a:spcPct val="60000"/>
              </a:spcBef>
            </a:pPr>
            <a:r>
              <a:rPr lang="es-ES" sz="1100" b="1" u="sng" dirty="0" smtClean="0">
                <a:solidFill>
                  <a:srgbClr val="01224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ES" sz="1100" b="1" u="sng" dirty="0" smtClean="0">
                <a:solidFill>
                  <a:srgbClr val="01224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ponsable:</a:t>
            </a:r>
            <a:endParaRPr lang="es-ES" sz="1000" dirty="0">
              <a:solidFill>
                <a:srgbClr val="01224B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 smtClean="0">
              <a:solidFill>
                <a:srgbClr val="FF0000"/>
              </a:solidFill>
              <a:latin typeface="Tahoma" pitchFamily="34" charset="0"/>
            </a:endParaRPr>
          </a:p>
          <a:p>
            <a:pPr>
              <a:spcBef>
                <a:spcPts val="0"/>
              </a:spcBef>
            </a:pPr>
            <a:endParaRPr lang="es-ES" sz="1000" dirty="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3" name="Flecha: a la derecha 2"/>
          <p:cNvSpPr/>
          <p:nvPr/>
        </p:nvSpPr>
        <p:spPr>
          <a:xfrm>
            <a:off x="3432766" y="1129662"/>
            <a:ext cx="344768" cy="3092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Flecha: a la derecha 17"/>
          <p:cNvSpPr/>
          <p:nvPr/>
        </p:nvSpPr>
        <p:spPr>
          <a:xfrm>
            <a:off x="3443701" y="2793922"/>
            <a:ext cx="322898" cy="375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Flecha: a la derecha 18"/>
          <p:cNvSpPr/>
          <p:nvPr/>
        </p:nvSpPr>
        <p:spPr>
          <a:xfrm rot="19183702">
            <a:off x="3407081" y="4538606"/>
            <a:ext cx="396135" cy="3092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Flecha: a la derecha 20"/>
          <p:cNvSpPr/>
          <p:nvPr/>
        </p:nvSpPr>
        <p:spPr>
          <a:xfrm>
            <a:off x="8607951" y="2995608"/>
            <a:ext cx="350518" cy="3041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Flecha: a la derecha 21"/>
          <p:cNvSpPr/>
          <p:nvPr/>
        </p:nvSpPr>
        <p:spPr>
          <a:xfrm rot="2376562">
            <a:off x="8498392" y="4538247"/>
            <a:ext cx="391787" cy="355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Flecha: a la izquierda y derecha 3"/>
          <p:cNvSpPr/>
          <p:nvPr/>
        </p:nvSpPr>
        <p:spPr>
          <a:xfrm>
            <a:off x="8534401" y="1097576"/>
            <a:ext cx="424068" cy="2143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Flecha: arriba y abajo 4"/>
          <p:cNvSpPr/>
          <p:nvPr/>
        </p:nvSpPr>
        <p:spPr>
          <a:xfrm>
            <a:off x="5854753" y="4610101"/>
            <a:ext cx="298068" cy="9208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019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103092"/>
              </p:ext>
            </p:extLst>
          </p:nvPr>
        </p:nvGraphicFramePr>
        <p:xfrm>
          <a:off x="101600" y="342901"/>
          <a:ext cx="11950700" cy="5575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524">
                  <a:extLst>
                    <a:ext uri="{9D8B030D-6E8A-4147-A177-3AD203B41FA5}">
                      <a16:colId xmlns:a16="http://schemas.microsoft.com/office/drawing/2014/main" xmlns="" val="2692631407"/>
                    </a:ext>
                  </a:extLst>
                </a:gridCol>
                <a:gridCol w="1895891"/>
                <a:gridCol w="1767708">
                  <a:extLst>
                    <a:ext uri="{9D8B030D-6E8A-4147-A177-3AD203B41FA5}">
                      <a16:colId xmlns:a16="http://schemas.microsoft.com/office/drawing/2014/main" xmlns="" val="2086288453"/>
                    </a:ext>
                  </a:extLst>
                </a:gridCol>
                <a:gridCol w="1518734">
                  <a:extLst>
                    <a:ext uri="{9D8B030D-6E8A-4147-A177-3AD203B41FA5}">
                      <a16:colId xmlns:a16="http://schemas.microsoft.com/office/drawing/2014/main" xmlns="" val="1116611892"/>
                    </a:ext>
                  </a:extLst>
                </a:gridCol>
                <a:gridCol w="1829951">
                  <a:extLst>
                    <a:ext uri="{9D8B030D-6E8A-4147-A177-3AD203B41FA5}">
                      <a16:colId xmlns:a16="http://schemas.microsoft.com/office/drawing/2014/main" xmlns="" val="1785680904"/>
                    </a:ext>
                  </a:extLst>
                </a:gridCol>
                <a:gridCol w="1195070">
                  <a:extLst>
                    <a:ext uri="{9D8B030D-6E8A-4147-A177-3AD203B41FA5}">
                      <a16:colId xmlns:a16="http://schemas.microsoft.com/office/drawing/2014/main" xmlns="" val="2310785626"/>
                    </a:ext>
                  </a:extLst>
                </a:gridCol>
                <a:gridCol w="908751">
                  <a:extLst>
                    <a:ext uri="{9D8B030D-6E8A-4147-A177-3AD203B41FA5}">
                      <a16:colId xmlns:a16="http://schemas.microsoft.com/office/drawing/2014/main" xmlns="" val="1395139970"/>
                    </a:ext>
                  </a:extLst>
                </a:gridCol>
                <a:gridCol w="1195071"/>
              </a:tblGrid>
              <a:tr h="286729">
                <a:tc gridSpan="8"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MATRIZ DE RIESGOS PROCESO: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63146933"/>
                  </a:ext>
                </a:extLst>
              </a:tr>
              <a:tr h="477883"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¿Qué puede salir mal?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Consecuencia</a:t>
                      </a:r>
                      <a:endParaRPr lang="es-AR" sz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Acción de contención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Responsable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Acción Correctiva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Responsable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1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Nivel</a:t>
                      </a:r>
                      <a:r>
                        <a:rPr lang="es-AR" sz="1100" baseline="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riesgo</a:t>
                      </a:r>
                      <a:endParaRPr lang="es-AR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Observaciones</a:t>
                      </a:r>
                    </a:p>
                    <a:p>
                      <a:pPr algn="ctr"/>
                      <a:endParaRPr lang="es-AR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82057326"/>
                  </a:ext>
                </a:extLst>
              </a:tr>
              <a:tr h="1815955"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1957014"/>
                  </a:ext>
                </a:extLst>
              </a:tr>
              <a:tr h="1815955"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73014936"/>
                  </a:ext>
                </a:extLst>
              </a:tr>
              <a:tr h="1178777">
                <a:tc>
                  <a:txBody>
                    <a:bodyPr/>
                    <a:lstStyle/>
                    <a:p>
                      <a:pPr algn="ctr"/>
                      <a:endParaRPr lang="es-A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87997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21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101</Words>
  <Application>Microsoft Office PowerPoint</Application>
  <PresentationFormat>Personalizado</PresentationFormat>
  <Paragraphs>77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Bárbara</dc:creator>
  <cp:lastModifiedBy>Ismael</cp:lastModifiedBy>
  <cp:revision>129</cp:revision>
  <dcterms:created xsi:type="dcterms:W3CDTF">2016-12-28T14:04:44Z</dcterms:created>
  <dcterms:modified xsi:type="dcterms:W3CDTF">2017-06-16T13:17:01Z</dcterms:modified>
</cp:coreProperties>
</file>