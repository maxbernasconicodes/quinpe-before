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9" r:id="rId5"/>
    <p:sldId id="270" r:id="rId6"/>
  </p:sldIdLst>
  <p:sldSz cx="12192000" cy="6858000"/>
  <p:notesSz cx="6797675" cy="9872663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373FB"/>
    <a:srgbClr val="66FF33"/>
    <a:srgbClr val="E2DD05"/>
    <a:srgbClr val="012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6" autoAdjust="0"/>
    <p:restoredTop sz="86477" autoAdjust="0"/>
  </p:normalViewPr>
  <p:slideViewPr>
    <p:cSldViewPr snapToGrid="0">
      <p:cViewPr>
        <p:scale>
          <a:sx n="100" d="100"/>
          <a:sy n="100" d="100"/>
        </p:scale>
        <p:origin x="72" y="-55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403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05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6175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640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597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9680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859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2747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2804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17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790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8A98E-DA47-46BE-A6EF-8687BB360B80}" type="datetimeFigureOut">
              <a:rPr lang="es-AR" smtClean="0"/>
              <a:pPr/>
              <a:t>27/2/2020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241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Word_Document1.docx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.doc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600166"/>
              </p:ext>
            </p:extLst>
          </p:nvPr>
        </p:nvGraphicFramePr>
        <p:xfrm>
          <a:off x="298890" y="924590"/>
          <a:ext cx="3373735" cy="334566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73735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434829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EL CONTEXTO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2597926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 Económico: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incremento de los valores de elementos de protección personal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Tecnológico: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0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s-A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 avance</a:t>
                      </a:r>
                      <a:r>
                        <a:rPr lang="es-AR" sz="10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la tecnología permite automatizar tareas, lo que implica menos tiempo de exposición.</a:t>
                      </a:r>
                      <a:endParaRPr lang="es-E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 – Ambiental: Normativa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aplicación nos  establece obligaciones y aspectos a cumplir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ey Nº 19587 Higiene y Seguridad en el trabajo, Decreto Nº 351; Ley Nº24.557 Riesgos de trabajo; Ley  Nº 25675 Ley general del Ambiente, Ley Nº 20,744 Contrato de trabajo </a:t>
                      </a:r>
                      <a:r>
                        <a:rPr lang="es-AR" sz="1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Decreto</a:t>
                      </a:r>
                      <a:r>
                        <a:rPr lang="es-A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390/1976. Ley</a:t>
                      </a:r>
                      <a:r>
                        <a:rPr lang="es-A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de transito 24449/95</a:t>
                      </a:r>
                      <a:r>
                        <a:rPr lang="es-AR" sz="1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Legislación del 2015 Res 900/15. </a:t>
                      </a:r>
                      <a:r>
                        <a:rPr lang="es-AR" sz="10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SGA..Res</a:t>
                      </a:r>
                      <a:r>
                        <a:rPr lang="es-AR" sz="10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84, 85 /2012.</a:t>
                      </a:r>
                      <a:endParaRPr lang="es-E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Social: 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Cultura de la población dificulta la aplicación de las buenas practicas.</a:t>
                      </a:r>
                      <a:r>
                        <a:rPr lang="es-E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None/>
                      </a:pP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92074"/>
              </p:ext>
            </p:extLst>
          </p:nvPr>
        </p:nvGraphicFramePr>
        <p:xfrm>
          <a:off x="309755" y="4212449"/>
          <a:ext cx="3374068" cy="225573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74068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259299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EL CONTEXTO INTERNO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1960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 Económico : La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falta de  política de stock para realizar compras de EPP. Limitación en realizar acondicionamiento de los puesto de trabajo, </a:t>
                      </a: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Social: Las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situación actual de cada trabajador en materia social impactara en el nivel de compromiso en el cumplimiento de los procesos.   </a:t>
                      </a: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Tecnológico: El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uso de herramientas tecnológicas nos ayudan a poder realizar monitoreos mas eficientes.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Legal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Ambiental: La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falta de toma de conciencia en la clasificación de residuos. Las actualizaciones del marco legal. </a:t>
                      </a: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782526"/>
              </p:ext>
            </p:extLst>
          </p:nvPr>
        </p:nvGraphicFramePr>
        <p:xfrm>
          <a:off x="7733571" y="1016016"/>
          <a:ext cx="4265841" cy="26461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265841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329686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EXTERNAS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2180094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ART</a:t>
                      </a:r>
                      <a:r>
                        <a:rPr lang="es-ES" sz="1000" b="1" u="sng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– Necesidad: 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Cumplir con los requisitos legales establecidos.(R.A.R,etc). Preservar la salud del trabajador.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Brindar capacitaciones a los trabajadores, tener una pronta respuesta en caso de accidentes. Brindar capacitaciones al personal de SeH.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Cliente: Necesidad: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Aplicar procedimientos de trabajo propios del cliente, enviar estadísticas varias de seguridad.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Capacitar al personal de SeH, en procedimientos solicitados, Explicar los formularios solicitados por el cliente. Realizar visitas periódicas en locaciones del cliente.</a:t>
                      </a:r>
                      <a:r>
                        <a:rPr lang="es-ES" sz="1000" b="0" baseline="0" dirty="0"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 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Proveedores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–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Solicitudes en forma clara y precisa.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Rápida atención, venta de elementos certificados, asesoramiento de diferentes alternativas de insumos.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b="1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623516" y="2172727"/>
            <a:ext cx="2653724" cy="152041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b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Proceso de Seguridad e Higiene</a:t>
            </a:r>
          </a:p>
          <a:p>
            <a:pPr algn="ctr">
              <a:spcBef>
                <a:spcPct val="60000"/>
              </a:spcBef>
            </a:pPr>
            <a:r>
              <a:rPr lang="es-ES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Responsable:</a:t>
            </a:r>
            <a:r>
              <a:rPr lang="es-E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Lara Gastón </a:t>
            </a:r>
            <a:endParaRPr lang="es-ES" sz="1000" b="1" dirty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1" name="Flecha: a la derecha 20"/>
          <p:cNvSpPr/>
          <p:nvPr/>
        </p:nvSpPr>
        <p:spPr>
          <a:xfrm rot="8016026">
            <a:off x="6920535" y="1537884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45388"/>
              </p:ext>
            </p:extLst>
          </p:nvPr>
        </p:nvGraphicFramePr>
        <p:xfrm>
          <a:off x="7733571" y="3693143"/>
          <a:ext cx="4306635" cy="306710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06635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448047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INTERNAS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2619056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1000" b="1" u="sng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Gerente Operativo</a:t>
                      </a:r>
                      <a:r>
                        <a:rPr lang="es-ES" sz="1000" b="1" u="none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: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- Necesidad: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100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Aplicar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controles de seguridad a todos los sectores. Comunicar todos los desvíos de seguridad (incidentes, requisitos incumplidos)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Establecer criterios de trabajo,  Apoyo en resolución de conflictos, participación de reuniones, brindar recursos para llevar a cabo medidas correctivas.  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Gerente RRHH 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-</a:t>
                      </a:r>
                      <a:r>
                        <a:rPr lang="es-ES" sz="1000" b="1" u="sng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Necesidad: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Que hagan cumplir las medidas de seguridad, comunicar los incidentes, comunicar conflictos con el personal.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Expectativas: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Apoyo en la resolución de conflictos con el personal. Remuneración adecuada al puesto según responsabilidades, contratación de personal. Manejo de situaciones en el personal en reiteradas conductas inapropiadas. </a:t>
                      </a:r>
                      <a:endParaRPr lang="es-ES" sz="1000" b="1" u="sng" baseline="0" dirty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b="1" u="sng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Requisitos</a:t>
                      </a:r>
                      <a:r>
                        <a:rPr lang="es-ES" sz="1000" b="1" u="sng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legales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-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Que se cumplan los requerimientos legales solicitados (evaluación de cumplimiento legal)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Que sea claro el requisito que se debe cumplir y que se comunique con  tiempo de anticipación en lo posible.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23" name="Flecha: a la derecha 22"/>
          <p:cNvSpPr/>
          <p:nvPr/>
        </p:nvSpPr>
        <p:spPr>
          <a:xfrm rot="2961692">
            <a:off x="3814667" y="1543991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Flecha: a la derecha 23"/>
          <p:cNvSpPr/>
          <p:nvPr/>
        </p:nvSpPr>
        <p:spPr>
          <a:xfrm rot="18898619">
            <a:off x="3814667" y="4013670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5" name="Flecha: a la derecha 24"/>
          <p:cNvSpPr/>
          <p:nvPr/>
        </p:nvSpPr>
        <p:spPr>
          <a:xfrm rot="13505281">
            <a:off x="6917218" y="4013827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337" y="188179"/>
            <a:ext cx="5343647" cy="909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9198591" y="286603"/>
            <a:ext cx="279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Actualizado: 29/01/2019</a:t>
            </a:r>
          </a:p>
        </p:txBody>
      </p:sp>
    </p:spTree>
    <p:extLst>
      <p:ext uri="{BB962C8B-B14F-4D97-AF65-F5344CB8AC3E}">
        <p14:creationId xmlns:p14="http://schemas.microsoft.com/office/powerpoint/2010/main" val="257091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493835"/>
              </p:ext>
            </p:extLst>
          </p:nvPr>
        </p:nvGraphicFramePr>
        <p:xfrm>
          <a:off x="464184" y="602536"/>
          <a:ext cx="2915120" cy="152996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26504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QUÉ?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1186773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 y Hardware.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Teléfonos.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Vehículos.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Computadoras.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Acceso Internet.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267552"/>
              </p:ext>
            </p:extLst>
          </p:nvPr>
        </p:nvGraphicFramePr>
        <p:xfrm>
          <a:off x="464184" y="2654727"/>
          <a:ext cx="2915120" cy="12974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243616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9779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Requerimientos del cliente.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Requerimientos SGI organización.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OHSAS 18001:2015.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Requisitos legales.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417950"/>
              </p:ext>
            </p:extLst>
          </p:nvPr>
        </p:nvGraphicFramePr>
        <p:xfrm>
          <a:off x="464184" y="4327306"/>
          <a:ext cx="2915120" cy="188031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47502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¿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CÓMO</a:t>
                      </a:r>
                      <a:r>
                        <a:rPr lang="es-AR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1405288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 Integrado y Procedimientos.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Instructivos</a:t>
                      </a:r>
                      <a:r>
                        <a:rPr lang="es-ES" sz="11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formularios.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Normas con que se implementan.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Requerimientos del cliente u otras partes interesadas.</a:t>
                      </a:r>
                      <a:endParaRPr lang="es-A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837695"/>
              </p:ext>
            </p:extLst>
          </p:nvPr>
        </p:nvGraphicFramePr>
        <p:xfrm>
          <a:off x="8946724" y="5296331"/>
          <a:ext cx="2981737" cy="120399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310709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89328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Tahoma" pitchFamily="34" charset="0"/>
                        </a:rPr>
                        <a:t>Indicadores de Gestión.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Tahoma" pitchFamily="34" charset="0"/>
                        </a:rPr>
                        <a:t>Informes de auditorías internas/externas.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Tahoma" pitchFamily="34" charset="0"/>
                        </a:rPr>
                        <a:t>Satisfacción</a:t>
                      </a:r>
                      <a:r>
                        <a:rPr lang="es-AR" sz="1000" baseline="0" dirty="0">
                          <a:latin typeface="Tahoma" pitchFamily="34" charset="0"/>
                        </a:rPr>
                        <a:t> del cliente. </a:t>
                      </a:r>
                      <a:endParaRPr lang="es-AR" sz="10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141121"/>
              </p:ext>
            </p:extLst>
          </p:nvPr>
        </p:nvGraphicFramePr>
        <p:xfrm>
          <a:off x="8958469" y="2538399"/>
          <a:ext cx="2981737" cy="263076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253415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SALIDAS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23773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Informes de auditorias. 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Registros ATS.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Registros de incidentes.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Minutas de Reunión.</a:t>
                      </a:r>
                      <a:endParaRPr lang="es-ES" sz="1100" dirty="0">
                        <a:latin typeface="Tahoma" pitchFamily="34" charset="0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Reuniones de SGI.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Revisión por la dirección.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Registros de capacitación.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Programas de Capacitación.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Programa</a:t>
                      </a:r>
                      <a:r>
                        <a:rPr lang="es-ES" sz="1100" baseline="0" dirty="0">
                          <a:latin typeface="Tahoma" pitchFamily="34" charset="0"/>
                        </a:rPr>
                        <a:t> de Seguridad. 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Programa anual de simulacros.</a:t>
                      </a:r>
                      <a:endParaRPr lang="es-ES" sz="11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733161"/>
              </p:ext>
            </p:extLst>
          </p:nvPr>
        </p:nvGraphicFramePr>
        <p:xfrm>
          <a:off x="8958470" y="596349"/>
          <a:ext cx="2981737" cy="17311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265042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QUIÉN? PARTES INTERESADAS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Personal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Proveedores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Responsables de sector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Gerencia</a:t>
                      </a:r>
                      <a:r>
                        <a:rPr lang="es-ES" sz="11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Operativa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Gerencia General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Gerencia RR.HH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Proveedores de servicios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856356"/>
              </p:ext>
            </p:extLst>
          </p:nvPr>
        </p:nvGraphicFramePr>
        <p:xfrm>
          <a:off x="4107624" y="5355868"/>
          <a:ext cx="4166596" cy="1402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166596">
                  <a:extLst>
                    <a:ext uri="{9D8B030D-6E8A-4147-A177-3AD203B41FA5}">
                      <a16:colId xmlns:a16="http://schemas.microsoft.com/office/drawing/2014/main" val="1157492327"/>
                    </a:ext>
                  </a:extLst>
                </a:gridCol>
              </a:tblGrid>
              <a:tr h="16898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1) Procesos SGI.</a:t>
                      </a:r>
                    </a:p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2) Procesos Principales de la</a:t>
                      </a:r>
                      <a:r>
                        <a:rPr lang="es-ES" sz="1000" baseline="0" dirty="0">
                          <a:latin typeface="Tahoma" pitchFamily="34" charset="0"/>
                        </a:rPr>
                        <a:t> </a:t>
                      </a:r>
                      <a:r>
                        <a:rPr lang="es-ES" sz="1000" dirty="0">
                          <a:latin typeface="Tahoma" pitchFamily="34" charset="0"/>
                        </a:rPr>
                        <a:t>organización.</a:t>
                      </a:r>
                    </a:p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3) Departamento</a:t>
                      </a:r>
                      <a:r>
                        <a:rPr lang="es-ES" sz="1000" baseline="0" dirty="0">
                          <a:latin typeface="Tahoma" pitchFamily="34" charset="0"/>
                        </a:rPr>
                        <a:t> de RRHH.</a:t>
                      </a:r>
                    </a:p>
                    <a:p>
                      <a:pPr marL="228600" indent="-228600" algn="ctr">
                        <a:spcBef>
                          <a:spcPct val="20000"/>
                        </a:spcBef>
                        <a:buFontTx/>
                        <a:buAutoNum type="arabicParenR" startAt="4"/>
                      </a:pPr>
                      <a:r>
                        <a:rPr lang="es-ES" sz="1000" baseline="0" dirty="0">
                          <a:latin typeface="Tahoma" pitchFamily="34" charset="0"/>
                        </a:rPr>
                        <a:t>Departamento Comercial.</a:t>
                      </a:r>
                    </a:p>
                    <a:p>
                      <a:pPr marL="228600" indent="-228600" algn="ctr">
                        <a:spcBef>
                          <a:spcPct val="20000"/>
                        </a:spcBef>
                        <a:buFontTx/>
                        <a:buAutoNum type="arabicParenR" startAt="4"/>
                      </a:pPr>
                      <a:r>
                        <a:rPr lang="es-ES" sz="1000" baseline="0" dirty="0">
                          <a:latin typeface="Tahoma" pitchFamily="34" charset="0"/>
                        </a:rPr>
                        <a:t>Departamento de Logistica y Transporte </a:t>
                      </a:r>
                    </a:p>
                    <a:p>
                      <a:pPr marL="228600" indent="-228600" algn="ctr">
                        <a:spcBef>
                          <a:spcPct val="20000"/>
                        </a:spcBef>
                        <a:buFontTx/>
                        <a:buAutoNum type="arabicParenR" startAt="4"/>
                      </a:pPr>
                      <a:r>
                        <a:rPr lang="es-ES" sz="1000" baseline="0" dirty="0">
                          <a:latin typeface="Tahoma" pitchFamily="34" charset="0"/>
                        </a:rPr>
                        <a:t>Departamento de Control Documentario,  </a:t>
                      </a:r>
                      <a:endParaRPr lang="es-ES" sz="10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825409" y="634990"/>
            <a:ext cx="4731026" cy="4148828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b="1" u="sng" dirty="0">
                <a:solidFill>
                  <a:schemeClr val="hlink"/>
                </a:solidFill>
              </a:rPr>
              <a:t>Proceso de Seguridad e Higiene</a:t>
            </a:r>
          </a:p>
          <a:p>
            <a:pPr>
              <a:spcBef>
                <a:spcPct val="60000"/>
              </a:spcBef>
            </a:pPr>
            <a:r>
              <a:rPr lang="es-ES" sz="1600" b="1" u="sng" dirty="0"/>
              <a:t>Responsable:  Responsable de CSMA </a:t>
            </a:r>
            <a:endParaRPr lang="es-ES" sz="1200" b="1" u="sng" dirty="0"/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Implementar y mantener  Controles de Seguridad 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Solicitud de compra de elementos de Protección personal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Entrega de elementos de protección personal. 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Realizar mediciones de  agentes de riesgo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Realizar Auditorias  de instalaciones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Preparar el informe para revisión por la dirección.</a:t>
            </a:r>
            <a:r>
              <a:rPr lang="es-ES" sz="1100" dirty="0">
                <a:latin typeface="Tahoma" pitchFamily="34" charset="0"/>
              </a:rPr>
              <a:t> 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Captar las necesidades, sugerencias y reclamos de seguridad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Capacitar al Personal respecto los riesgos de la tarea.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Implementación y seguimiento de planes de mejora, programas de gestión  de riesgos y desvíos.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Realizar informes de incidentes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Verificar que los reclamos de partes interesadas se traten según procedimientos internos.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Realizar estadísticas de RSV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Realizar estadísticas capacitaciones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Identificar necesidades de revisión de instructivos/procedimiento.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Capacitar respecto de metodologías de trabajo/procedimiento, etc. </a:t>
            </a:r>
            <a:r>
              <a:rPr lang="es-ES" sz="1100" dirty="0">
                <a:latin typeface="Tahoma" pitchFamily="34" charset="0"/>
              </a:rPr>
              <a:t> </a:t>
            </a:r>
            <a:endParaRPr lang="es-ES" sz="1100" dirty="0">
              <a:latin typeface="Arial" pitchFamily="34" charset="0"/>
              <a:cs typeface="Arial" pitchFamily="34" charset="0"/>
            </a:endParaRP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itchFamily="34" charset="0"/>
              </a:rPr>
              <a:t>Participar proactivamente respecto actividades de CSMA.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itchFamily="34" charset="0"/>
              </a:rPr>
              <a:t>Responder por cuestiones relacionadas al SGI.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itchFamily="34" charset="0"/>
              </a:rPr>
              <a:t>Participar en Reuniones de Comité.</a:t>
            </a:r>
          </a:p>
        </p:txBody>
      </p:sp>
      <p:sp>
        <p:nvSpPr>
          <p:cNvPr id="3" name="Flecha: a la derecha 2"/>
          <p:cNvSpPr/>
          <p:nvPr/>
        </p:nvSpPr>
        <p:spPr>
          <a:xfrm>
            <a:off x="3432766" y="1129662"/>
            <a:ext cx="344768" cy="3092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Flecha: a la derecha 17"/>
          <p:cNvSpPr/>
          <p:nvPr/>
        </p:nvSpPr>
        <p:spPr>
          <a:xfrm>
            <a:off x="3464405" y="3055668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Flecha: a la derecha 18"/>
          <p:cNvSpPr/>
          <p:nvPr/>
        </p:nvSpPr>
        <p:spPr>
          <a:xfrm rot="19183702">
            <a:off x="3427786" y="4880652"/>
            <a:ext cx="396135" cy="30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Flecha: a la izquierda y derecha 3"/>
          <p:cNvSpPr/>
          <p:nvPr/>
        </p:nvSpPr>
        <p:spPr>
          <a:xfrm>
            <a:off x="8565353" y="1097576"/>
            <a:ext cx="340720" cy="2143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0" name="Flecha: a la derecha 17"/>
          <p:cNvSpPr/>
          <p:nvPr/>
        </p:nvSpPr>
        <p:spPr>
          <a:xfrm>
            <a:off x="8617749" y="3023720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Flecha: a la izquierda y derecha 3"/>
          <p:cNvSpPr/>
          <p:nvPr/>
        </p:nvSpPr>
        <p:spPr>
          <a:xfrm rot="5400000">
            <a:off x="5966390" y="4949551"/>
            <a:ext cx="449063" cy="2143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3" name="Flecha: a la derecha 18"/>
          <p:cNvSpPr/>
          <p:nvPr/>
        </p:nvSpPr>
        <p:spPr>
          <a:xfrm rot="2844061">
            <a:off x="8419681" y="5530685"/>
            <a:ext cx="396135" cy="30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" name="1 CuadroTexto"/>
          <p:cNvSpPr txBox="1"/>
          <p:nvPr/>
        </p:nvSpPr>
        <p:spPr>
          <a:xfrm>
            <a:off x="8079475" y="136478"/>
            <a:ext cx="341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Actualizado : 29/01/2019</a:t>
            </a:r>
          </a:p>
        </p:txBody>
      </p:sp>
    </p:spTree>
    <p:extLst>
      <p:ext uri="{BB962C8B-B14F-4D97-AF65-F5344CB8AC3E}">
        <p14:creationId xmlns:p14="http://schemas.microsoft.com/office/powerpoint/2010/main" val="63019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98648"/>
              </p:ext>
            </p:extLst>
          </p:nvPr>
        </p:nvGraphicFramePr>
        <p:xfrm>
          <a:off x="537949" y="611301"/>
          <a:ext cx="11103064" cy="19222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62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8429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Higiene y Seguridad                          </a:t>
                      </a:r>
                      <a:r>
                        <a:rPr lang="es-AR" sz="1200" b="1" u="none" strike="noStrike" dirty="0">
                          <a:effectLst/>
                        </a:rPr>
                        <a:t>Fecha de actualización   15/10/2019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648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RIESGOS Y OPORTUNIDADES ¿Qué puede salir mal / bien?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CONSECUENCIA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NIVEL DE RIESGO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ACCION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RESPONSABLES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FEHA DE IMPLEMENTACION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VERIFICACIÓN</a:t>
                      </a:r>
                      <a:r>
                        <a:rPr lang="es-AR" sz="1000" b="1" u="none" strike="noStrike" baseline="0">
                          <a:solidFill>
                            <a:schemeClr val="bg1"/>
                          </a:solidFill>
                          <a:effectLst/>
                        </a:rPr>
                        <a:t> DE </a:t>
                      </a:r>
                      <a:r>
                        <a:rPr lang="es-AR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EFICACIA </a:t>
                      </a:r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 LAS ACCIONES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RECOMENDACIONES/</a:t>
                      </a:r>
                    </a:p>
                    <a:p>
                      <a:pPr algn="ctr" fontAlgn="ctr"/>
                      <a:r>
                        <a:rPr lang="es-A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OBSERVACIONES</a:t>
                      </a:r>
                      <a:endParaRPr lang="es-A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9833"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elementos de Protección  personal Extraordinarios.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Retrasos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la tarea a realizar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Aumento en la probabilidad de incidentes personales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Insatisfacción del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(3)= 5</a:t>
                      </a:r>
                    </a:p>
                    <a:p>
                      <a:pPr algn="ctr"/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35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Compra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elementos de protección personal de manera  extraordinaria y rápida.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Stop operativo/evitar puesta en marcha de la tarea.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Solicitar información al Departamento Comercial y Operativo de la operación a realzar.   </a:t>
                      </a:r>
                    </a:p>
                    <a:p>
                      <a:pPr marL="0" indent="0" algn="l">
                        <a:buFont typeface="Arial" pitchFamily="34" charset="0"/>
                        <a:buNone/>
                      </a:pPr>
                      <a:endParaRPr lang="es-AR" sz="1200" b="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 Gastón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26/02/2020 en adelante.</a:t>
                      </a:r>
                      <a:endParaRPr lang="es-AR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Las acciones fueron eficaces. </a:t>
                      </a:r>
                      <a:endParaRPr lang="es-AR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Comunicar al Departamento Comercial y Operativo la importancia de la solicitud de información de la operación a realizar. (Evidencia RG_08_01). 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18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Descontrol  de los procesos respecto su trazabilidad documental (No tener indicadores actualizados, no completar los formularios requeridos, etc.)</a:t>
                      </a:r>
                      <a:endParaRPr lang="es-A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 de cumplimiento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legal y falta de control operativo.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(3)= 5</a:t>
                      </a:r>
                    </a:p>
                    <a:p>
                      <a:pPr algn="ctr"/>
                      <a:r>
                        <a:rPr lang="es-AR" sz="9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9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35</a:t>
                      </a:r>
                    </a:p>
                    <a:p>
                      <a:pPr algn="ctr"/>
                      <a:r>
                        <a:rPr lang="es-AR" sz="9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Retirar documentación obsoleta.</a:t>
                      </a: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Establecer reuniones para control de medición y seguimiento.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Establecer auditorías de seguridad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 sector.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Capacitar a los responsables de sector respecto procedimientos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medidas de prevención de incidentes.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Gerente Operativo,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Líder CSMA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Responsable de SGI, Lara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Gastón. 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 </a:t>
                      </a:r>
                      <a:r>
                        <a:rPr lang="es-A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26/02/2020</a:t>
                      </a:r>
                      <a:endParaRPr lang="es-AR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50" b="1" u="none" strike="noStrike" dirty="0">
                          <a:effectLst/>
                        </a:rPr>
                        <a:t>Las acciones fueron eficaces. </a:t>
                      </a:r>
                      <a:endParaRPr lang="es-AR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«Seguridad e Higiene» Se establece la tarea de hacer una capacitación para los mandos medios respecto al ARO.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2401"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dirty="0">
                          <a:latin typeface="Arial" pitchFamily="34" charset="0"/>
                          <a:cs typeface="Arial" pitchFamily="34" charset="0"/>
                        </a:rPr>
                        <a:t>Falta de capacitación </a:t>
                      </a:r>
                      <a:r>
                        <a:rPr lang="es-AR" sz="1200" baseline="0" dirty="0">
                          <a:latin typeface="Arial" pitchFamily="34" charset="0"/>
                          <a:cs typeface="Arial" pitchFamily="34" charset="0"/>
                        </a:rPr>
                        <a:t> en los riesgos asociados a las  tareas.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Accidentes, perdidas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materiales.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Incumplimiento</a:t>
                      </a:r>
                      <a:r>
                        <a:rPr lang="es-AR" sz="1200" u="none" strike="noStrike" baseline="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legal y normativo.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10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(3)= 5</a:t>
                      </a:r>
                    </a:p>
                    <a:p>
                      <a:pPr algn="ctr"/>
                      <a:r>
                        <a:rPr lang="es-AR" sz="10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(4)= 10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50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alto tipo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Capacitar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de manera prioritaria a los sectores  involucrados.</a:t>
                      </a: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Actualizar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Programa de capacitaciones.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seguimiento del programa de capacitación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Comunicar la importancia de previsión y seguimiento de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las </a:t>
                      </a: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acciones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correctivas.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las acciones correctivas.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Líder CSMA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Gerente RR.HH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Gerente Operativo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26/02/2020</a:t>
                      </a:r>
                      <a:endParaRPr lang="es-AR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000" b="1" u="none" strike="noStrike" dirty="0">
                          <a:effectLst/>
                        </a:rPr>
                        <a:t>Hacer una evaluación al personal antes de la Rev. Por la Dirección en 2020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«Seguridad e Higiene» Se establece la tarea de hacer una capacitación para los involucrados de cada sector respecto al ARO.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Matriz de Seguimiento de Capacitación, a fin de visualizar el personal capacitado.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5849"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dirty="0">
                          <a:latin typeface="Arial" pitchFamily="34" charset="0"/>
                          <a:cs typeface="Arial" pitchFamily="34" charset="0"/>
                        </a:rPr>
                        <a:t>Falta</a:t>
                      </a:r>
                      <a:r>
                        <a:rPr lang="es-AR" sz="1200" baseline="0" dirty="0">
                          <a:latin typeface="Arial" pitchFamily="34" charset="0"/>
                          <a:cs typeface="Arial" pitchFamily="34" charset="0"/>
                        </a:rPr>
                        <a:t> de Aplicación de medidas correctivas.</a:t>
                      </a:r>
                      <a:endParaRPr lang="es-AR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Perdidas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materiales, Incidentes.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10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(2)= 3</a:t>
                      </a:r>
                    </a:p>
                    <a:p>
                      <a:pPr algn="ctr"/>
                      <a:r>
                        <a:rPr lang="es-AR" sz="10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21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Reuniones de Comité en donde se evalué el cumplimiento de las medidas correctivas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Líder </a:t>
                      </a: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CSMA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Gerencia Operativa</a:t>
                      </a:r>
                      <a:endParaRPr kumimoji="0" lang="es-A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>
                          <a:effectLst/>
                        </a:rPr>
                        <a:t> 26</a:t>
                      </a:r>
                      <a:r>
                        <a:rPr lang="es-AR" sz="1600" u="none" strike="noStrike">
                          <a:solidFill>
                            <a:srgbClr val="FF0000"/>
                          </a:solidFill>
                          <a:effectLst/>
                        </a:rPr>
                        <a:t>/02/2019</a:t>
                      </a:r>
                      <a:endParaRPr lang="es-AR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000" b="1" u="none" strike="noStrike" dirty="0">
                          <a:effectLst/>
                        </a:rPr>
                        <a:t>Las acciones fueron eficaces. 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200" dirty="0">
                          <a:latin typeface="Arial" pitchFamily="34" charset="0"/>
                          <a:cs typeface="Arial" pitchFamily="34" charset="0"/>
                        </a:rPr>
                        <a:t>Evaluar el avance</a:t>
                      </a:r>
                      <a:r>
                        <a:rPr lang="es-AR" sz="1200" baseline="0" dirty="0">
                          <a:latin typeface="Arial" pitchFamily="34" charset="0"/>
                          <a:cs typeface="Arial" pitchFamily="34" charset="0"/>
                        </a:rPr>
                        <a:t> de los  los planes de acción  y analizar las causa de sus posibles atrasos. (Se evidencia en el RG_12_01 Minuta de Reunión)   </a:t>
                      </a:r>
                      <a:endParaRPr lang="es-AR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292"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 de personal 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las capacitaciones.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* </a:t>
                      </a:r>
                      <a:r>
                        <a:rPr lang="es-AR" sz="12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Incumplimiento</a:t>
                      </a:r>
                      <a:r>
                        <a:rPr lang="es-AR" sz="1200" u="none" strike="noStrike" baseline="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legal y normativo.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(2)= 3</a:t>
                      </a:r>
                    </a:p>
                    <a:p>
                      <a:pPr algn="ctr"/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(2)= 4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12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bajo tipo D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Reprogramar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capacitación.</a:t>
                      </a: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Prever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disponer de tiempo  para que  los empleados afectados a la capacitación puedan asistir. 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 CSMA Jefe de Sector. Gerente RR.HH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15/02/2019</a:t>
                      </a:r>
                      <a:endParaRPr lang="es-A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000" b="1" u="none" strike="noStrike" dirty="0">
                          <a:effectLst/>
                        </a:rPr>
                        <a:t>Las acciones fueron eficaces.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confección de Matriz de Seguimiento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Capacitación permitirá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identificar el personal a capacitar.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6551"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completar el libro de SeH.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05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* </a:t>
                      </a:r>
                      <a:r>
                        <a:rPr lang="es-AR" sz="12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Incumplimiento</a:t>
                      </a:r>
                      <a:r>
                        <a:rPr lang="es-AR" sz="1200" u="none" strike="noStrike" baseline="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 legal y normativo. 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 fontAlgn="b"/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(3)= 5</a:t>
                      </a:r>
                    </a:p>
                    <a:p>
                      <a:pPr algn="ctr"/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(2)= 4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20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Completar Retroactivo, utilizando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minutas, capacitaciones y ordenes de trabajo.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Colocar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el programa de SeH la habilitación del libro y el seguimiento mes a mes.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 CSMA.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Responsable SeH , Lara Gastón.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08/02/2019</a:t>
                      </a:r>
                      <a:endParaRPr lang="es-AR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b="1" u="none" strike="noStrike" dirty="0">
                          <a:effectLst/>
                        </a:rPr>
                        <a:t>Las acciones fueron eficaces.</a:t>
                      </a:r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Establecer</a:t>
                      </a: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frecuencia para completar el libro de SeH. (RG_12_01 Minuta de Reunión)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3203"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Relevamiento de riesgo en alguna actividad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r>
                        <a:rPr lang="es-AR" sz="11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r>
                        <a:rPr lang="es-A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Accidentes, perdidas</a:t>
                      </a:r>
                      <a:r>
                        <a:rPr lang="es-AR" sz="11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materiales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(2)= 3</a:t>
                      </a:r>
                    </a:p>
                    <a:p>
                      <a:pPr algn="ctr"/>
                      <a:r>
                        <a:rPr lang="es-AR" sz="1200" b="0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21</a:t>
                      </a:r>
                    </a:p>
                    <a:p>
                      <a:pPr algn="ctr"/>
                      <a:r>
                        <a:rPr lang="es-AR" sz="12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Aplicar ARO para tareas  no rutinarias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 listado de tareas no rutinarias que se realizaron el ultimo año y aplicar ARO.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Agregar si es necesario las nuevas tareas a la matriz de Peligro-Riesgo.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Diseñar y ejecutar registro de tareas No </a:t>
                      </a:r>
                      <a:r>
                        <a:rPr lang="es-AR" sz="1200" b="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Rutnarias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 CSMA</a:t>
                      </a:r>
                    </a:p>
                    <a:p>
                      <a:pPr algn="ctr"/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Jefe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Sector </a:t>
                      </a:r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Gerente Operativo</a:t>
                      </a:r>
                    </a:p>
                    <a:p>
                      <a:pPr algn="ctr"/>
                      <a:r>
                        <a:rPr lang="es-AR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</a:t>
                      </a:r>
                      <a:r>
                        <a:rPr lang="es-AR" sz="12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Gastón </a:t>
                      </a: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15/03/2019</a:t>
                      </a:r>
                      <a:endParaRPr lang="es-A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u="none" strike="noStrike" dirty="0">
                          <a:effectLst/>
                        </a:rPr>
                        <a:t> </a:t>
                      </a:r>
                      <a:r>
                        <a:rPr lang="es-AR" sz="1000" b="1" u="none" strike="noStrike" dirty="0">
                          <a:effectLst/>
                        </a:rPr>
                        <a:t>Las acciones fueron eficaces y actualmente están en tratamiento.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«Seguridad e Higiene» Se establece la tarea de ampliar la matriz de Peligro-Riesgo para las tareas no rutinarias si es necesario. Se incorpora Registro de tareas No Rutinarias.</a:t>
                      </a:r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8079475" y="136478"/>
            <a:ext cx="341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Actualizado : 15/10/2019</a:t>
            </a:r>
          </a:p>
        </p:txBody>
      </p:sp>
    </p:spTree>
    <p:extLst>
      <p:ext uri="{BB962C8B-B14F-4D97-AF65-F5344CB8AC3E}">
        <p14:creationId xmlns:p14="http://schemas.microsoft.com/office/powerpoint/2010/main" val="56722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66"/>
          <a:stretch/>
        </p:blipFill>
        <p:spPr bwMode="auto">
          <a:xfrm>
            <a:off x="2002508" y="669331"/>
            <a:ext cx="8151551" cy="277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11 Objeto"/>
          <p:cNvGraphicFramePr>
            <a:graphicFrameLocks noChangeAspect="1"/>
          </p:cNvGraphicFramePr>
          <p:nvPr/>
        </p:nvGraphicFramePr>
        <p:xfrm>
          <a:off x="1063368" y="3880883"/>
          <a:ext cx="5837237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Documento" r:id="rId4" imgW="6096736" imgH="2555371" progId="Word.Document.12">
                  <p:embed/>
                </p:oleObj>
              </mc:Choice>
              <mc:Fallback>
                <p:oleObj name="Documento" r:id="rId4" imgW="6096736" imgH="255537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368" y="3880883"/>
                        <a:ext cx="5837237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12 Objeto"/>
          <p:cNvGraphicFramePr>
            <a:graphicFrameLocks noChangeAspect="1"/>
          </p:cNvGraphicFramePr>
          <p:nvPr/>
        </p:nvGraphicFramePr>
        <p:xfrm>
          <a:off x="5645150" y="3859213"/>
          <a:ext cx="5837238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Documento" r:id="rId6" imgW="6096736" imgH="2555371" progId="Word.Document.12">
                  <p:embed/>
                </p:oleObj>
              </mc:Choice>
              <mc:Fallback>
                <p:oleObj name="Documento" r:id="rId6" imgW="6096736" imgH="255537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3859213"/>
                        <a:ext cx="5837238" cy="244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503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2" b="1789"/>
          <a:stretch/>
        </p:blipFill>
        <p:spPr bwMode="auto">
          <a:xfrm>
            <a:off x="2912619" y="978194"/>
            <a:ext cx="7330500" cy="4072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8236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</TotalTime>
  <Words>1661</Words>
  <Application>Microsoft Office PowerPoint</Application>
  <PresentationFormat>Panorámica</PresentationFormat>
  <Paragraphs>199</Paragraphs>
  <Slides>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Tema de Office</vt:lpstr>
      <vt:lpstr>Documento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Bárbara</dc:creator>
  <cp:lastModifiedBy>Gaston Lara</cp:lastModifiedBy>
  <cp:revision>220</cp:revision>
  <cp:lastPrinted>2019-01-29T15:09:07Z</cp:lastPrinted>
  <dcterms:created xsi:type="dcterms:W3CDTF">2016-12-28T14:04:44Z</dcterms:created>
  <dcterms:modified xsi:type="dcterms:W3CDTF">2020-02-27T11:52:17Z</dcterms:modified>
</cp:coreProperties>
</file>