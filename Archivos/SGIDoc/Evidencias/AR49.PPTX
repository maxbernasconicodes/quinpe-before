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57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24B"/>
    <a:srgbClr val="66FF33"/>
    <a:srgbClr val="E2DD05"/>
    <a:srgbClr val="0373FB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" autoAdjust="0"/>
    <p:restoredTop sz="94707" autoAdjust="0"/>
  </p:normalViewPr>
  <p:slideViewPr>
    <p:cSldViewPr snapToGrid="0">
      <p:cViewPr>
        <p:scale>
          <a:sx n="89" d="100"/>
          <a:sy n="89" d="100"/>
        </p:scale>
        <p:origin x="-486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C2A9D-0E97-43BF-816E-6CBB449AE4BF}" type="datetimeFigureOut">
              <a:rPr lang="es-ES" smtClean="0"/>
              <a:t>17/10/2019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AAE40-13B8-475E-AA2F-1644180B72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85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AAE40-13B8-475E-AA2F-1644180B723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442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05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6175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40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597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9680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859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2747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2804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17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790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8A98E-DA47-46BE-A6EF-8687BB360B80}" type="datetimeFigureOut">
              <a:rPr lang="es-AR" smtClean="0"/>
              <a:t>17/10/2019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D69B9-BA6D-4BFB-A863-728A21026821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41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1.doc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036562"/>
              </p:ext>
            </p:extLst>
          </p:nvPr>
        </p:nvGraphicFramePr>
        <p:xfrm>
          <a:off x="182513" y="592294"/>
          <a:ext cx="3656175" cy="332020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65617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27879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AL CONTEXTO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3076366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Económico</a:t>
                      </a:r>
                      <a:r>
                        <a:rPr lang="es-ES" sz="1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Acuerdos salariales desmedidos afectan el desarrollo económico.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</a:t>
                      </a:r>
                      <a:r>
                        <a:rPr lang="es-ES" sz="1000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Medidas políticas a nivel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país,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pueden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influir en la toma de decisiones. </a:t>
                      </a: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Tecnológico: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</a:t>
                      </a:r>
                      <a:r>
                        <a:rPr lang="es-ES" sz="1000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 continuos cortes de ruta afectan el desenvolvimiento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personal de transporte. Los comentarios externos acerca de la actividad de la empresa, podrían afectar emocionalmente a los trabajadores, pudiendo tener una cierta incertidumbre respecto de la continuidad laboral.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Ambiental:</a:t>
                      </a: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 factores climáticos afectan directamente sobre la salud de nuestros dependientes, provocando mayor ausentismo.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</a:t>
                      </a:r>
                      <a:r>
                        <a:rPr lang="es-ES" sz="10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tener las presentaciones periódicas exigidas por Organismos Provinciales-Nacionales puede ocasionar multas, sanciones.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341540"/>
              </p:ext>
            </p:extLst>
          </p:nvPr>
        </p:nvGraphicFramePr>
        <p:xfrm>
          <a:off x="207462" y="3954665"/>
          <a:ext cx="3631226" cy="27707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631226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43838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AL CONTEXTO INTERNO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526956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Económico:</a:t>
                      </a:r>
                      <a:r>
                        <a:rPr lang="es-AR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exceso de Horas extraordinarias representan un costo oneroso.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Tecnológico: 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Incorporación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Herramientas que permiten realizar legajos personales digitales, liquidación de sueldos e impuestos.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Político: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Diagramación de Equipos de trabajos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Buen Clima laboral logra el mejor desempeño y rendimiento del personal. La diferencia salarial provoca disgustos entre los sectores. La falta de sentimiento de pertenencia afecta al desempeño de los trabajadores.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Ambiental: 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N/C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Legal: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Juicios Laborales demandan mayor tiempo y recursos de trabajo.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393395"/>
              </p:ext>
            </p:extLst>
          </p:nvPr>
        </p:nvGraphicFramePr>
        <p:xfrm>
          <a:off x="7343476" y="56239"/>
          <a:ext cx="4752975" cy="35180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5297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75020"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EXTERNAS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3098556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Sindicatos -</a:t>
                      </a:r>
                      <a:r>
                        <a:rPr lang="es-ES" sz="800" b="1" u="sng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Necesidad: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Cumplir con lo establecido en el convenio colectivo de trabajo, el pago de boletas sindicales, preservar la integridad del trabajador. 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Expectativas: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Obtener el libre de Deuda sindical, Evitar conflictos entre las partes.   </a:t>
                      </a:r>
                      <a:endParaRPr lang="es-ES" sz="800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A.R.T. </a:t>
                      </a:r>
                      <a:r>
                        <a:rPr lang="es-ES" sz="80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–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Necesidad: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Cumplir con los requisitos legales establecidos. Preservar la salud del trabajador.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Expectativas: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Obtener cobertura en caso de accidentes. Obtener capacitaciones, evaluar, identificar  peligros – Riesgos. Cumplimiento en tiempo y forma de reintegro de ILT.</a:t>
                      </a:r>
                      <a:endParaRPr lang="es-ES" sz="800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Ministerio de Trabajo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– </a:t>
                      </a:r>
                      <a:r>
                        <a:rPr lang="es-ES" sz="800" b="1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Necesidad: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Cumplir con lo estipulado en la ley de  contrato trabajo.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Expectativas: </a:t>
                      </a:r>
                      <a:r>
                        <a:rPr lang="es-ES" sz="80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Rubrica en tiempo y forma de los libros de sueldos, exámenes  médicos, acuerdos laborales.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Afip : </a:t>
                      </a:r>
                      <a:r>
                        <a:rPr lang="es-ES" sz="800" b="1" u="non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</a:t>
                      </a:r>
                      <a:r>
                        <a:rPr lang="es-ES" sz="800" b="0" u="non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Realizar en tiempo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y forma las presentaciones y pago.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Expectativas:  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tener multas, ni intereses  generados por atrasos, evitar inspecciones.</a:t>
                      </a:r>
                      <a:endParaRPr lang="es-ES" sz="800" b="0" u="none" dirty="0" smtClean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b="0" u="none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Anses</a:t>
                      </a:r>
                      <a:r>
                        <a:rPr lang="es-ES" sz="800" b="0" u="non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800" b="1" u="non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 </a:t>
                      </a:r>
                      <a:r>
                        <a:rPr lang="es-ES" sz="800" b="0" u="non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Emitir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certificaciones de servicios, Ceses de actividades al momento de jubilarse.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Que sean eficientes en los plazos de jubilación y cumplan con el salario familiar del personal.</a:t>
                      </a:r>
                      <a:endParaRPr lang="es-ES" sz="800" b="0" u="none" dirty="0" smtClean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b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Estudios</a:t>
                      </a:r>
                      <a:r>
                        <a:rPr lang="es-ES" sz="8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jurídicos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.- </a:t>
                      </a: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 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Entregar documentación  de forma ordenada,  pruebas fehacientes, cumplir con los pagos de honorarios.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Expectativas: 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Asesoramiento idóneo, respuesta en forma inmediata.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b="0" baseline="0" dirty="0" smtClean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8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Clínicas Laborales </a:t>
                      </a:r>
                      <a:r>
                        <a:rPr lang="es-ES" sz="800" b="0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</a:t>
                      </a: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: informar  los requisitos del examen medico. que se cumpla con los pagos.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8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Expectativas:</a:t>
                      </a:r>
                      <a:r>
                        <a:rPr lang="es-ES" sz="800" b="0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Sean eficientes en los tiempos solicitados, que sean profesionales idóneos. Que  cumplan con los tiempos otorgados en tiempo y forma.</a:t>
                      </a:r>
                      <a:endParaRPr lang="es-ES" sz="800" b="0" u="non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473230" y="2413031"/>
            <a:ext cx="2238607" cy="1766637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6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 de RRHH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6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Responsable:  Responsable de RRHH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6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1" i="0" u="sng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Flecha: a la derecha 20"/>
          <p:cNvSpPr/>
          <p:nvPr/>
        </p:nvSpPr>
        <p:spPr>
          <a:xfrm rot="7704904">
            <a:off x="6692655" y="2237151"/>
            <a:ext cx="642043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078378"/>
              </p:ext>
            </p:extLst>
          </p:nvPr>
        </p:nvGraphicFramePr>
        <p:xfrm>
          <a:off x="7315200" y="3808528"/>
          <a:ext cx="4781549" cy="2941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81549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178678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INTERNAS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0204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900" b="1" u="sng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Gerencia</a:t>
                      </a:r>
                      <a:r>
                        <a:rPr lang="es-ES" sz="9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Administrativa y Contable 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– Necesidad: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tener controladas las boletas sindicales, formularios 931,libro ley, tener liquidados los sueldos, llevar un control de ausentismo, tener legajos actualizados. 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Que garantice los pagos de las boletas sindicales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 los haberes.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9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Gerencia Operativa:  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Incorporación de personal según los valores y política de la empresa. Inducciones eficaces para que el ingresante se incorpore de manera correcta.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instrucciones claras de trabajo, ayuda en resolución de conflictos. Presencia en reuniones de distintos caracteres.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Requisitos Legales: 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Tenga la información de los trabajadores actualizada.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Gestionar con anticipación tramites de carácter legal.  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lang="es-ES" sz="9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Coordinador General y compras de materias Primas. </a:t>
                      </a:r>
                      <a:r>
                        <a:rPr lang="es-ES" sz="900" b="1" u="non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Comunicación de diagrama de personal, comunicarse con los choferes en casos excepcionales.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Expectativas: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que se respeten los francos y evitar el exceso de jornada laboral. 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b="1" u="sng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Todo el personal  </a:t>
                      </a: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Necesidad: 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Confección de certificados y formularios, la entrega de los recibos de haberes, que se realice el pago de haberes en tiempo y forma, autorización de anticipos de sueldos, otorgamiento de permisos y licencias, Resolución de conflictos.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s-ES" sz="900" b="1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</a:t>
                      </a:r>
                      <a:r>
                        <a:rPr lang="es-ES" sz="900" b="0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Cumplir con el reglamento interno, cumplir con la asistencia, buena predisposición laboral, buena comunicación y compañerismo.  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23" name="Flecha: a la derecha 22"/>
          <p:cNvSpPr/>
          <p:nvPr/>
        </p:nvSpPr>
        <p:spPr>
          <a:xfrm rot="2961692">
            <a:off x="3884396" y="2203680"/>
            <a:ext cx="602970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echa: a la derecha 23"/>
          <p:cNvSpPr/>
          <p:nvPr/>
        </p:nvSpPr>
        <p:spPr>
          <a:xfrm rot="18898619">
            <a:off x="3837486" y="3986613"/>
            <a:ext cx="613512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lecha: a la derecha 24"/>
          <p:cNvSpPr/>
          <p:nvPr/>
        </p:nvSpPr>
        <p:spPr>
          <a:xfrm rot="13685765">
            <a:off x="6741276" y="3990767"/>
            <a:ext cx="544708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275" y="56239"/>
            <a:ext cx="4259201" cy="727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091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9887"/>
              </p:ext>
            </p:extLst>
          </p:nvPr>
        </p:nvGraphicFramePr>
        <p:xfrm>
          <a:off x="256090" y="164504"/>
          <a:ext cx="2843375" cy="1607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337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96626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QUÉ?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284828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 y Software (red, Tango, RSV, Cámaras de </a:t>
                      </a:r>
                      <a:r>
                        <a:rPr lang="es-AR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seguridad, Alarma).</a:t>
                      </a: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Reloj de control de hs de personal.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Reloj de Vigilancia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50365"/>
              </p:ext>
            </p:extLst>
          </p:nvPr>
        </p:nvGraphicFramePr>
        <p:xfrm>
          <a:off x="267193" y="1729147"/>
          <a:ext cx="2843375" cy="24428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337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46754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1960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Convenio Petrolero privado y Petrolero jerárquico, Camionero, </a:t>
                      </a: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Comercio.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IT-03 Normas a Cumplir por Personal Externo e Interno.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IT-04 Servicio de Vigilancia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PO-CMSA-08 </a:t>
                      </a:r>
                      <a:r>
                        <a:rPr lang="es-E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Contratación de Personal y Legajos</a:t>
                      </a: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RG_17_02 Ficha de Proceso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Anexo IV Objetivos y Metas</a:t>
                      </a:r>
                      <a:endParaRPr lang="es-E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pt-B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RG_13_01 Ficha Técnica Indicador 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LCT </a:t>
                      </a:r>
                      <a:r>
                        <a:rPr lang="es-E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20744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106803"/>
              </p:ext>
            </p:extLst>
          </p:nvPr>
        </p:nvGraphicFramePr>
        <p:xfrm>
          <a:off x="245071" y="4459693"/>
          <a:ext cx="2843375" cy="1752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337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9517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¿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CÓMO</a:t>
                      </a:r>
                      <a:r>
                        <a:rPr lang="es-AR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100027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Procedimientos y registros </a:t>
                      </a: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</a:t>
                      </a:r>
                      <a:r>
                        <a:rPr lang="es-ES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gestión. </a:t>
                      </a:r>
                      <a:endParaRPr lang="es-E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Política de Calidad, Seguridad, Salud Ocupacional y Ambiente.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PG- 08 Competencia, Formación y Toma de Conciencia</a:t>
                      </a:r>
                      <a:r>
                        <a:rPr lang="es-ES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ES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IT-03 Normas a Cumplir por Personal Externo e Interno.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PO_CSMA_08 Contratación de Personal y Legajos</a:t>
                      </a:r>
                      <a:endParaRPr lang="es-ES" sz="14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92527"/>
              </p:ext>
            </p:extLst>
          </p:nvPr>
        </p:nvGraphicFramePr>
        <p:xfrm>
          <a:off x="9326976" y="2715190"/>
          <a:ext cx="2703443" cy="254027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03443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2381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Recibo de Haberes.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Evaluaciones de Desempeño.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Notificación de Vacaciones.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Diagramas de Servicios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Legajos.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Examen </a:t>
                      </a:r>
                      <a:r>
                        <a:rPr lang="es-ES" sz="8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preocupacional</a:t>
                      </a:r>
                      <a:r>
                        <a:rPr lang="es-ES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Post </a:t>
                      </a:r>
                      <a:r>
                        <a:rPr lang="es-ES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ocupacional, periódico.</a:t>
                      </a:r>
                      <a:endParaRPr lang="es-E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Notas por presentación de documentación solicitada por acta.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Certificaciones.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Apercibimientos  y Suspensiones.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Registro de ausencias por enfermedad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Informe semanal de novedades.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Calendario de cumpleaños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90773"/>
              </p:ext>
            </p:extLst>
          </p:nvPr>
        </p:nvGraphicFramePr>
        <p:xfrm>
          <a:off x="9315959" y="191423"/>
          <a:ext cx="2718407" cy="2623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18407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45568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QUIÉN?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467354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Medicina Laboral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b="0" i="1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Estudio Jurídico Cataldi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Servicio de Técnico Informático.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Gerencias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Personal de la Organización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Asesor de SGI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Sector de CSMA</a:t>
                      </a:r>
                      <a:endParaRPr lang="es-ES" sz="1000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Responsable de Gestión Ambiental y Requisitos Legales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Coordinador General y Compras de Materias </a:t>
                      </a:r>
                      <a:r>
                        <a:rPr lang="es-ES" sz="100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Primas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Responsable de Planta</a:t>
                      </a:r>
                      <a:endParaRPr lang="es-ES" sz="1000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>
                            <a:extLst/>
                          </a:blip>
                        </a:buBlip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Gerente administrativo y Contable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640364"/>
              </p:ext>
            </p:extLst>
          </p:nvPr>
        </p:nvGraphicFramePr>
        <p:xfrm>
          <a:off x="3433466" y="5500671"/>
          <a:ext cx="5352169" cy="1219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52169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3480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763109">
                <a:tc>
                  <a:txBody>
                    <a:bodyPr/>
                    <a:lstStyle/>
                    <a:p>
                      <a:pPr algn="l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1. </a:t>
                      </a:r>
                      <a:r>
                        <a:rPr lang="es-E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itchFamily="34" charset="0"/>
                        </a:rPr>
                        <a:t>Proceso de CSMA </a:t>
                      </a:r>
                    </a:p>
                    <a:p>
                      <a:pPr algn="l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itchFamily="34" charset="0"/>
                        </a:rPr>
                        <a:t>2. </a:t>
                      </a:r>
                      <a:r>
                        <a:rPr lang="es-ES" sz="1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itchFamily="34" charset="0"/>
                        </a:rPr>
                        <a:t>Proceso</a:t>
                      </a:r>
                      <a:r>
                        <a:rPr lang="es-ES" sz="1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itchFamily="34" charset="0"/>
                        </a:rPr>
                        <a:t>SGI</a:t>
                      </a:r>
                      <a:endParaRPr lang="es-E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itchFamily="34" charset="0"/>
                      </a:endParaRPr>
                    </a:p>
                    <a:p>
                      <a:pPr algn="l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3. Proceso de </a:t>
                      </a:r>
                      <a:r>
                        <a:rPr lang="es-ES" sz="1000" dirty="0" smtClean="0">
                          <a:latin typeface="Tahoma" pitchFamily="34" charset="0"/>
                        </a:rPr>
                        <a:t>Logística</a:t>
                      </a:r>
                      <a:r>
                        <a:rPr lang="es-ES" sz="1000" baseline="0" dirty="0" smtClean="0">
                          <a:latin typeface="Tahoma" pitchFamily="34" charset="0"/>
                        </a:rPr>
                        <a:t> y Transporte</a:t>
                      </a:r>
                    </a:p>
                    <a:p>
                      <a:pPr algn="l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 smtClean="0">
                          <a:latin typeface="Tahoma" pitchFamily="34" charset="0"/>
                        </a:rPr>
                        <a:t>4</a:t>
                      </a:r>
                      <a:r>
                        <a:rPr lang="es-ES" sz="1000" dirty="0">
                          <a:latin typeface="Tahoma" pitchFamily="34" charset="0"/>
                        </a:rPr>
                        <a:t>. Procesos </a:t>
                      </a:r>
                      <a:r>
                        <a:rPr lang="es-ES" sz="1000" dirty="0" smtClean="0">
                          <a:latin typeface="Tahoma" pitchFamily="34" charset="0"/>
                        </a:rPr>
                        <a:t>principales</a:t>
                      </a:r>
                    </a:p>
                    <a:p>
                      <a:pPr algn="l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 smtClean="0">
                          <a:latin typeface="Tahoma" pitchFamily="34" charset="0"/>
                        </a:rPr>
                        <a:t>5. Proceso</a:t>
                      </a:r>
                      <a:r>
                        <a:rPr lang="es-ES" sz="1000" baseline="0" dirty="0" smtClean="0">
                          <a:latin typeface="Tahoma" pitchFamily="34" charset="0"/>
                        </a:rPr>
                        <a:t> Administración y Finanzas</a:t>
                      </a:r>
                      <a:endParaRPr lang="es-ES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463881" y="81253"/>
            <a:ext cx="5393492" cy="5424562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sz="1600" b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Proceso </a:t>
            </a:r>
            <a:r>
              <a:rPr lang="es-ES" sz="1600" b="1" u="sng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RRHH</a:t>
            </a:r>
          </a:p>
          <a:p>
            <a:pPr algn="ctr">
              <a:spcBef>
                <a:spcPct val="60000"/>
              </a:spcBef>
            </a:pPr>
            <a:r>
              <a:rPr lang="es-ES" sz="1000" b="1" u="sng" dirty="0" smtClean="0"/>
              <a:t>Responsable</a:t>
            </a:r>
            <a:r>
              <a:rPr lang="es-ES" sz="1000" b="1" u="sng" dirty="0"/>
              <a:t>:  Responsable de RRHH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Procesar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información de 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hs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ausentismo, suspensiones para la liquidación de sueldos.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Liquidar 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sueldos y asientos contables </a:t>
            </a:r>
            <a:r>
              <a:rPr lang="es-ES" sz="8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devengamiento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 de sueldos, decreto 814.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x-none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Confección y presenctacion de DDJJ de F931.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x-none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DDJJ de Sicore y boletas sindicales.</a:t>
            </a:r>
            <a:endParaRPr lang="es-E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Gestión 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del Proceso de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evaluación de desempeño.  (2)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Control de ingresos y egresos de la jornada laboral.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Control de Legajos del Personal de la organización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Gestión de contrataciones y desvinculaciones de Personal (altas, bajas)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Certificaciones de servicio 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Certificado Artículo 80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Notificaciones a ART (1)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Aplicar la reglamentación disciplinaria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Coordinar la realización de exámenes 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pre ocupacionales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y psicotécnicos. (1)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Control de exámenes Periódicos (1)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Confección de diagramas de personal. (3)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Captar las necesidades, sugerencias y reclamos de mejora del personal para el desempeño de sus funciones (2)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Implementación y seguimiento de planes de mejora,. (3)</a:t>
            </a:r>
          </a:p>
          <a:p>
            <a:pPr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Asegurar que las responsabilidades y autoridades estén definidas y sean comunicadas. (2)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Gestionar licencias por enfermedad y por vacaciones. (1)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Acompañar la gestión de SO. (1)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Revisión del Cuaderno de novedades de Vigilancia.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 Control del Recorrido de vigilancia según RIT 04-04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Actualizar Ficha de indicadores (2)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 Atención de Reclamos sindicales. 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Actualización de calendario de Cumpleaños. 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Solicitar asesoramiento jurídico por cuestiones específicas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Dar 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cumplimiento a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aquello identificado por el SGI (2)</a:t>
            </a:r>
          </a:p>
          <a:p>
            <a:pPr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Identificar </a:t>
            </a:r>
            <a:r>
              <a:rPr lang="es-ES" sz="8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NCs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  <a:p>
            <a:pPr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Responder  por su sector ante auditorías (2)</a:t>
            </a:r>
          </a:p>
          <a:p>
            <a:pPr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Disponer adecuadamente los residuos (1)</a:t>
            </a:r>
          </a:p>
          <a:p>
            <a:pPr>
              <a:buBlip>
                <a:blip r:embed="rId2"/>
              </a:buBlip>
            </a:pPr>
            <a:r>
              <a:rPr lang="es-ES" sz="850" dirty="0">
                <a:latin typeface="Arial" panose="020B0604020202020204" pitchFamily="34" charset="0"/>
                <a:cs typeface="Arial" panose="020B0604020202020204" pitchFamily="34" charset="0"/>
              </a:rPr>
              <a:t>Participar de simulacros (1</a:t>
            </a:r>
            <a:r>
              <a:rPr lang="es-ES" sz="85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850" u="sng" dirty="0" smtClean="0">
                <a:latin typeface="Arial" pitchFamily="34" charset="0"/>
                <a:cs typeface="Arial" pitchFamily="34" charset="0"/>
              </a:rPr>
              <a:t>identificar necesidades de revisión de instructivos /procedimientos.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850" dirty="0" smtClean="0">
                <a:latin typeface="Arial" pitchFamily="34" charset="0"/>
                <a:cs typeface="Arial" pitchFamily="34" charset="0"/>
              </a:rPr>
              <a:t>capacitar respecto metodologías de trabajo / procedimientos, etc.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850" dirty="0" smtClean="0">
                <a:latin typeface="Arial" pitchFamily="34" charset="0"/>
                <a:cs typeface="Arial" pitchFamily="34" charset="0"/>
              </a:rPr>
              <a:t>participar proactivamente respecto actividades de </a:t>
            </a:r>
            <a:r>
              <a:rPr lang="es-ES" sz="850" dirty="0" err="1" smtClean="0">
                <a:latin typeface="Arial" pitchFamily="34" charset="0"/>
                <a:cs typeface="Arial" pitchFamily="34" charset="0"/>
              </a:rPr>
              <a:t>csma</a:t>
            </a:r>
            <a:endParaRPr lang="es-ES" sz="850" dirty="0" smtClean="0">
              <a:latin typeface="Arial" pitchFamily="34" charset="0"/>
              <a:cs typeface="Arial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s-ES" sz="850" dirty="0" smtClean="0">
                <a:latin typeface="Arial" pitchFamily="34" charset="0"/>
                <a:cs typeface="Arial" pitchFamily="34" charset="0"/>
              </a:rPr>
              <a:t>responder por cuestiones relacionadas al </a:t>
            </a:r>
            <a:r>
              <a:rPr lang="es-ES" sz="850" dirty="0" err="1" smtClean="0">
                <a:latin typeface="Arial" pitchFamily="34" charset="0"/>
                <a:cs typeface="Arial" pitchFamily="34" charset="0"/>
              </a:rPr>
              <a:t>sgi</a:t>
            </a:r>
            <a:r>
              <a:rPr lang="es-ES" sz="85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850" dirty="0" smtClean="0">
                <a:latin typeface="Arial" pitchFamily="34" charset="0"/>
                <a:cs typeface="Arial" pitchFamily="34" charset="0"/>
              </a:rPr>
              <a:t>participar en reuniones de comité</a:t>
            </a:r>
            <a:endParaRPr lang="es-ES" sz="85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13891"/>
              </p:ext>
            </p:extLst>
          </p:nvPr>
        </p:nvGraphicFramePr>
        <p:xfrm>
          <a:off x="9297035" y="5300492"/>
          <a:ext cx="2670391" cy="1402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70391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2340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642285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de ausencias por </a:t>
                      </a: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enfermedad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  <a:r>
                        <a:rPr lang="es-A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evaluación de desempeño</a:t>
                      </a:r>
                      <a:endParaRPr lang="es-A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Ausentismo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Capacitaciones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Donaciones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Cantidad de pasantías</a:t>
                      </a:r>
                      <a:endParaRPr lang="es-A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1" name="Flecha: a la derecha 10"/>
          <p:cNvSpPr/>
          <p:nvPr/>
        </p:nvSpPr>
        <p:spPr>
          <a:xfrm>
            <a:off x="3115027" y="979463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Flecha: a la derecha 12"/>
          <p:cNvSpPr/>
          <p:nvPr/>
        </p:nvSpPr>
        <p:spPr>
          <a:xfrm>
            <a:off x="3116264" y="2858412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Flecha: a la derecha 17"/>
          <p:cNvSpPr/>
          <p:nvPr/>
        </p:nvSpPr>
        <p:spPr>
          <a:xfrm>
            <a:off x="3110568" y="4937888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Flecha: a la derecha 18"/>
          <p:cNvSpPr/>
          <p:nvPr/>
        </p:nvSpPr>
        <p:spPr>
          <a:xfrm>
            <a:off x="8923159" y="2936123"/>
            <a:ext cx="373875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Flecha: a la derecha 19"/>
          <p:cNvSpPr/>
          <p:nvPr/>
        </p:nvSpPr>
        <p:spPr>
          <a:xfrm rot="3147000">
            <a:off x="8840731" y="5485903"/>
            <a:ext cx="481446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Flecha: a la izquierda y derecha 20"/>
          <p:cNvSpPr/>
          <p:nvPr/>
        </p:nvSpPr>
        <p:spPr>
          <a:xfrm>
            <a:off x="8872966" y="1023655"/>
            <a:ext cx="424069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Flecha: a la izquierda y derecha 20"/>
          <p:cNvSpPr/>
          <p:nvPr/>
        </p:nvSpPr>
        <p:spPr>
          <a:xfrm rot="5400000">
            <a:off x="5620682" y="5193297"/>
            <a:ext cx="350038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6312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371197"/>
              </p:ext>
            </p:extLst>
          </p:nvPr>
        </p:nvGraphicFramePr>
        <p:xfrm>
          <a:off x="537949" y="611300"/>
          <a:ext cx="11185480" cy="13308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185"/>
                <a:gridCol w="1111866"/>
                <a:gridCol w="1079157"/>
                <a:gridCol w="2183027"/>
                <a:gridCol w="1218690"/>
                <a:gridCol w="1398185"/>
                <a:gridCol w="1398185"/>
                <a:gridCol w="1398185"/>
              </a:tblGrid>
              <a:tr h="323427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MATRIZ DE RIESGOS PROCESO: RRHH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u="none" strike="noStrike" dirty="0" smtClean="0">
                          <a:effectLst/>
                        </a:rPr>
                        <a:t>Fecha de actualización   01/03/2019</a:t>
                      </a:r>
                      <a:endParaRPr lang="es-A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/>
                      <a:endParaRPr lang="es-AR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48" marR="8648" marT="8648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97028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RIESGOS Y OPORTUNIDADES ¿Qué puede salir mal / bien?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CONSECUENCIA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NIVEL DE RIESGO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ACCION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RESPONSABLES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FEHA DE IMPLEMENTACION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EFICACIA DE LAS ACCIONES</a:t>
                      </a:r>
                      <a:endParaRPr lang="es-A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RECOMENDACIONES/</a:t>
                      </a:r>
                    </a:p>
                    <a:p>
                      <a:pPr algn="ctr" fontAlgn="ctr"/>
                      <a:r>
                        <a:rPr lang="es-AR" sz="1000" u="none" strike="noStrike" dirty="0" smtClean="0">
                          <a:effectLst/>
                          <a:latin typeface="+mn-lt"/>
                        </a:rPr>
                        <a:t>OBSERVACIONES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</a:tr>
              <a:tr h="800100">
                <a:tc rowSpan="2">
                  <a:txBody>
                    <a:bodyPr/>
                    <a:lstStyle/>
                    <a:p>
                      <a:pPr algn="l"/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Liquidar mal los sueldos / Presentaciones erróneas (F.931)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Disgusto / malestar del personal.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Alteración de recaudación de fondos.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Generar alta burocracia con la AFIP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35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Re-liquidar el sueldo.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hace el Control de liquidaciones en oficina Sector Laboratorio.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Resp. RRHH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 ya implementado.</a:t>
                      </a:r>
                    </a:p>
                    <a:p>
                      <a:pPr algn="just" fontAlgn="b"/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 rowSpan="2">
                  <a:txBody>
                    <a:bodyPr/>
                    <a:lstStyle/>
                    <a:p>
                      <a:pPr algn="just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se registran</a:t>
                      </a:r>
                      <a:r>
                        <a:rPr lang="es-A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reclamos.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«RRHH». Se establece la meta de lograr menos de 1 reclamo por mes por mala liquidación de sueldos.</a:t>
                      </a:r>
                      <a:endParaRPr lang="es-AR" sz="9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 caso de depósito efectuado trabajar conjuntamente con Finanzas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88392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ajuste de liquidación (si el depósito ya se realizó).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de pre-liquidación antes del cierre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Resp. RHHH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0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ya implementado.</a:t>
                      </a:r>
                    </a:p>
                  </a:txBody>
                  <a:tcPr marL="8648" marR="8648" marT="8648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29661">
                <a:tc>
                  <a:txBody>
                    <a:bodyPr/>
                    <a:lstStyle/>
                    <a:p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Ante una Selección y contratación de personal ingresante no se le notifique la desvinculación durante el período de prueba (3 meses</a:t>
                      </a: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</a:t>
                      </a:r>
                      <a:endParaRPr lang="es-AR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Liquidaciones onerosas.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s-AR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s-AR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3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21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Consensuar la desvinculación directa con el personal.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Identificar metodología de supervisión del personal en período de prueba (PO CSMA 08)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Generar alertas de notificación en tango o agenda</a:t>
                      </a:r>
                      <a:r>
                        <a:rPr lang="es-AR" sz="9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(Agenda del Outlook).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Implementar nuevos métodos de contratación, eventual y “plazo fijo”.</a:t>
                      </a:r>
                      <a:endParaRPr lang="es-AR" sz="900" b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Resp. RHHH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Gerencia Operativa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Ya implementado. 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</a:t>
                      </a:r>
                      <a:r>
                        <a:rPr lang="es-A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 acciones fueron eficaces.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«RRHH».</a:t>
                      </a:r>
                    </a:p>
                  </a:txBody>
                  <a:tcPr anchor="ctr"/>
                </a:tc>
              </a:tr>
              <a:tr h="323427">
                <a:tc>
                  <a:txBody>
                    <a:bodyPr/>
                    <a:lstStyle/>
                    <a:p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Contratación directa de Gerencia (ingreso por recomendación</a:t>
                      </a: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Desempeño desfavorable </a:t>
                      </a: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personal</a:t>
                      </a: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Pérdida de recursos (tiempo, inducciones, </a:t>
                      </a: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etc.) 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(3)= 5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(2)= 4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20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 a Gerencia General los riesgos de éste tipo de contrataciones</a:t>
                      </a: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Aplicar metodología de empleado a prueba en PO_CSMA_08.</a:t>
                      </a:r>
                    </a:p>
                    <a:p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Gerente </a:t>
                      </a:r>
                      <a:r>
                        <a:rPr kumimoji="0" lang="es-A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Operativo.</a:t>
                      </a:r>
                      <a:endParaRPr kumimoji="0" lang="es-A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Ya implementado. 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 el transcurso</a:t>
                      </a:r>
                      <a:r>
                        <a:rPr lang="es-A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del año no hubo ingresos  por contratación directa.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«RRHH».</a:t>
                      </a:r>
                    </a:p>
                  </a:txBody>
                  <a:tcPr anchor="ctr"/>
                </a:tc>
              </a:tr>
              <a:tr h="323427">
                <a:tc>
                  <a:txBody>
                    <a:bodyPr/>
                    <a:lstStyle/>
                    <a:p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Impugnación de sanciones por sindicatos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Pérdida de credibilidad de la política de sanciones 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Salario </a:t>
                      </a: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oneroso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 se recuperan días que se pagan/ se paga doble salario por reemplazo).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Recarga de tareas para el sector  afectado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(1)= 1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bajo tipo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Consensuar la sanción directamente  con el personal /sindicato.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Asesorar legalmente la impugnación para determinar continuidad a juicio laboral.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 al personal  reglamento de normas  e infracciones, PO CSMA 08,  Política de empresa,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Asesorarse legalmente previa aplicación de sanción.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Resp. RHHH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Gerencia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Asesor </a:t>
                      </a:r>
                      <a:r>
                        <a:rPr lang="es-AR" sz="9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</a:t>
                      </a:r>
                      <a:endParaRPr lang="es-AR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3 semanas.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Ausencia de impugnaciones.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AR" sz="9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15 Marzo de  2019 se terminará la redacción de Reglamento Interno.</a:t>
                      </a:r>
                      <a:endParaRPr lang="es-AR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23427">
                <a:tc>
                  <a:txBody>
                    <a:bodyPr/>
                    <a:lstStyle/>
                    <a:p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Mala</a:t>
                      </a: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definición </a:t>
                      </a: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Responsabilidades y funciones en los puestos de trabajo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asumir responsabilidad de ejecución de tareas.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Reclamos </a:t>
                      </a: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internos,</a:t>
                      </a:r>
                      <a:endParaRPr lang="es-AR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Ineficacia en los procesos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Reclamos del cliente o partes interesadas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(4)= 7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49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alto tipo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s-AR" sz="900" b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Redefinir funciones.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-Confeccionar Perfiles de Puestos y mantener actualizados.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-Comunicar Perfiles de puestos.</a:t>
                      </a:r>
                    </a:p>
                    <a:p>
                      <a:endParaRPr lang="es-AR" sz="900" b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Resp. de RRHH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Gerencias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Mandos medios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Cumplido.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 planea </a:t>
                      </a:r>
                      <a:r>
                        <a:rPr lang="es-A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redefinir el organigrama para el ciclo 2020.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r>
                        <a:rPr lang="es-AR" sz="900" dirty="0" smtClean="0">
                          <a:solidFill>
                            <a:srgbClr val="0122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Perfiles de Puesto finalizado. Resta actualizar </a:t>
                      </a:r>
                      <a:r>
                        <a:rPr lang="es-AR" sz="900" baseline="0" dirty="0" smtClean="0">
                          <a:solidFill>
                            <a:srgbClr val="0122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organigrama.</a:t>
                      </a:r>
                      <a:endParaRPr lang="es-AR" sz="900" dirty="0">
                        <a:solidFill>
                          <a:srgbClr val="0122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33400">
                <a:tc rowSpan="3">
                  <a:txBody>
                    <a:bodyPr/>
                    <a:lstStyle/>
                    <a:p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en la diagramación o ausencia de </a:t>
                      </a: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diagramación.</a:t>
                      </a:r>
                      <a:endParaRPr lang="es-AR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Faltantes de personal para la realización eficiente de tareas.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Ineficacia en procesos operativos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Reclamos </a:t>
                      </a: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cliente.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1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7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bajo tipo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Planificar diagramas con Responsables de sector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Responsables de sector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Resp. RRHHH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Ya implementado.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Las acciones fueron eficaces.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«RRHH». 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334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Seguimiento y medición del diagrama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5334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Comunicación o exposición del diagrama al personal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Reemplazar faltante con personal de licencia por franco o vacaciones.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Pago de </a:t>
                      </a:r>
                      <a:r>
                        <a:rPr lang="es-AR" sz="9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hs</a:t>
                      </a: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extra</a:t>
                      </a:r>
                      <a:r>
                        <a:rPr lang="es-AR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AR" sz="900" b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1668780">
                <a:tc>
                  <a:txBody>
                    <a:bodyPr/>
                    <a:lstStyle/>
                    <a:p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Tener un reclamo</a:t>
                      </a: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por parte de los sindicatos por mala liquidación de sueldos o problemas con el personal.</a:t>
                      </a:r>
                      <a:endParaRPr lang="es-AR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</a:t>
                      </a: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resentida la relación con el personal y los sindicatos. Posibles bloqueos o cortes a la actividad de la empresa. Entorpecimiento de las operaciones.</a:t>
                      </a:r>
                      <a:endParaRPr lang="es-AR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(2)= 1</a:t>
                      </a:r>
                    </a:p>
                    <a:p>
                      <a:pPr algn="ctr"/>
                      <a:r>
                        <a:rPr lang="es-AR" sz="900" b="0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(4)= 10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 10</a:t>
                      </a:r>
                    </a:p>
                    <a:p>
                      <a:pPr algn="ctr"/>
                      <a:r>
                        <a:rPr lang="es-AR" sz="900" b="1" i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Comunicarnos con el</a:t>
                      </a:r>
                      <a:r>
                        <a:rPr lang="es-AR" sz="9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personal y los sindicatos para llegar a un acuerdo que resuelva el problema.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Hacer llamados y visitas.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Responsables de sector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</a:t>
                      </a:r>
                      <a:r>
                        <a:rPr kumimoji="0" lang="es-A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RRHH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50" b="1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Implementado.</a:t>
                      </a:r>
                      <a:endParaRPr lang="es-AR" sz="105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</a:t>
                      </a:r>
                      <a:r>
                        <a:rPr lang="es-A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hemos tenido reclamos en </a:t>
                      </a:r>
                      <a:r>
                        <a:rPr lang="es-AR" sz="10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 año.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vincula al Objetivo «RRHH». Se establece la meta de lograr menos de 6 reclamos en el año por parte de los sindicatos.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4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4867984" y="22999"/>
            <a:ext cx="26641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Diapositiva 4</a:t>
            </a:r>
            <a:endParaRPr lang="es-ES" sz="36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66"/>
          <a:stretch/>
        </p:blipFill>
        <p:spPr bwMode="auto">
          <a:xfrm>
            <a:off x="2002508" y="669331"/>
            <a:ext cx="8151551" cy="277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11 Objeto"/>
          <p:cNvGraphicFramePr>
            <a:graphicFrameLocks noChangeAspect="1"/>
          </p:cNvGraphicFramePr>
          <p:nvPr>
            <p:extLst/>
          </p:nvPr>
        </p:nvGraphicFramePr>
        <p:xfrm>
          <a:off x="1063368" y="3880883"/>
          <a:ext cx="5837237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Documento" r:id="rId4" imgW="6096736" imgH="2555371" progId="Word.Document.12">
                  <p:embed/>
                </p:oleObj>
              </mc:Choice>
              <mc:Fallback>
                <p:oleObj name="Documento" r:id="rId4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368" y="3880883"/>
                        <a:ext cx="5837237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2 Objeto"/>
          <p:cNvGraphicFramePr>
            <a:graphicFrameLocks noChangeAspect="1"/>
          </p:cNvGraphicFramePr>
          <p:nvPr>
            <p:extLst/>
          </p:nvPr>
        </p:nvGraphicFramePr>
        <p:xfrm>
          <a:off x="5645150" y="3859213"/>
          <a:ext cx="5837238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Documento" r:id="rId6" imgW="6096736" imgH="2555371" progId="Word.Document.12">
                  <p:embed/>
                </p:oleObj>
              </mc:Choice>
              <mc:Fallback>
                <p:oleObj name="Documento" r:id="rId6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3859213"/>
                        <a:ext cx="5837238" cy="244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40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2" b="1789"/>
          <a:stretch/>
        </p:blipFill>
        <p:spPr bwMode="auto">
          <a:xfrm>
            <a:off x="2912619" y="978194"/>
            <a:ext cx="7330500" cy="4072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32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2125</Words>
  <Application>Microsoft Office PowerPoint</Application>
  <PresentationFormat>Personalizado</PresentationFormat>
  <Paragraphs>268</Paragraphs>
  <Slides>5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Tema de Office</vt:lpstr>
      <vt:lpstr>Documento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Bárbara</dc:creator>
  <cp:lastModifiedBy>Pedro</cp:lastModifiedBy>
  <cp:revision>190</cp:revision>
  <dcterms:created xsi:type="dcterms:W3CDTF">2016-12-28T14:04:44Z</dcterms:created>
  <dcterms:modified xsi:type="dcterms:W3CDTF">2019-10-17T19:15:03Z</dcterms:modified>
</cp:coreProperties>
</file>