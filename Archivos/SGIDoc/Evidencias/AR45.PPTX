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4" r:id="rId3"/>
    <p:sldId id="265" r:id="rId4"/>
    <p:sldId id="266" r:id="rId5"/>
    <p:sldId id="267" r:id="rId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73FB"/>
    <a:srgbClr val="FF33CC"/>
    <a:srgbClr val="66FF33"/>
    <a:srgbClr val="E2DD05"/>
    <a:srgbClr val="0122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96" autoAdjust="0"/>
    <p:restoredTop sz="94660"/>
  </p:normalViewPr>
  <p:slideViewPr>
    <p:cSldViewPr snapToGrid="0">
      <p:cViewPr>
        <p:scale>
          <a:sx n="50" d="100"/>
          <a:sy n="50" d="100"/>
        </p:scale>
        <p:origin x="-1950" y="-3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32955C-6D69-4EAD-85BB-033EA14384F0}" type="datetimeFigureOut">
              <a:rPr lang="es-ES" smtClean="0"/>
              <a:t>30/01/2020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C4D86-41FD-4A18-80F6-5F06720F92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9431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AAAE40-13B8-475E-AA2F-1644180B7237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8468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30/1/2020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40312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30/1/2020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05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30/1/2020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6175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30/1/2020</a:t>
            </a:fld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640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30/1/2020</a:t>
            </a:fld>
            <a:endParaRPr lang="es-AR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59733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30/1/2020</a:t>
            </a:fld>
            <a:endParaRPr lang="es-AR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96802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30/1/2020</a:t>
            </a:fld>
            <a:endParaRPr lang="es-AR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6859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30/1/2020</a:t>
            </a:fld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27470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30/1/2020</a:t>
            </a:fld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28049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30/1/2020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9175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A98E-DA47-46BE-A6EF-8687BB360B80}" type="datetimeFigureOut">
              <a:rPr lang="es-AR" smtClean="0"/>
              <a:pPr/>
              <a:t>30/1/2020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47905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8A98E-DA47-46BE-A6EF-8687BB360B80}" type="datetimeFigureOut">
              <a:rPr lang="es-AR" smtClean="0"/>
              <a:pPr/>
              <a:t>30/1/2020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D69B9-BA6D-4BFB-A863-728A21026821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2414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Documento_de_Microsoft_Word2.docx"/><Relationship Id="rId3" Type="http://schemas.openxmlformats.org/officeDocument/2006/relationships/image" Target="../media/image5.emf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package" Target="../embeddings/Documento_de_Microsoft_Word1.docx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197152"/>
              </p:ext>
            </p:extLst>
          </p:nvPr>
        </p:nvGraphicFramePr>
        <p:xfrm>
          <a:off x="95690" y="731703"/>
          <a:ext cx="3373735" cy="336339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373735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452552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AFECTAN EL CONTEXTO EXTERNO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2712258">
                <a:tc>
                  <a:txBody>
                    <a:bodyPr/>
                    <a:lstStyle/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Político Económico</a:t>
                      </a:r>
                      <a:r>
                        <a:rPr lang="es-E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r>
                        <a:rPr lang="es-ES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El aumento de trabajo en la actividad  </a:t>
                      </a:r>
                      <a:r>
                        <a:rPr lang="es-ES" sz="10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hidrocarburifera</a:t>
                      </a:r>
                      <a:r>
                        <a:rPr lang="es-ES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supone mas atención en las aspectos ambientales de la empresa.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Tecnológico</a:t>
                      </a:r>
                      <a:r>
                        <a:rPr lang="es-E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r>
                        <a:rPr lang="es-ES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Metodologías para la generación sustentable de energía permiten mitigar impactos ambientales y reducir el consumo de recursos no renovables.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lang="es-ES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Legal :</a:t>
                      </a:r>
                      <a:r>
                        <a:rPr lang="es-ES" sz="1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normativa a nivel provincial-nacional regula todas</a:t>
                      </a:r>
                      <a:r>
                        <a:rPr lang="es-ES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las operaciones que pueden generar un impacto ambiental (vuelcos de efluentes, residuos peligrosos, etc.). Disminución de los Tratadores Habilitados en el Registro Provincial. </a:t>
                      </a:r>
                      <a:endParaRPr lang="es-ES" sz="1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Social:</a:t>
                      </a:r>
                      <a:r>
                        <a:rPr lang="es-ES" sz="1000" b="1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crecimiento demográfico de la ciudad acerca a las viviendas al sector de la planta y conlleva a mayor peligro frente a derrames, El desconocimiento de la actividad genera sospechas del desempeño ambiental y deriva en quejas y reclamos sociales.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889621"/>
              </p:ext>
            </p:extLst>
          </p:nvPr>
        </p:nvGraphicFramePr>
        <p:xfrm>
          <a:off x="119958" y="4057981"/>
          <a:ext cx="3374068" cy="26212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374068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206815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AFECTAN EL CONTEXTO INTERNO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17579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lang="es-AR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Político Económico : </a:t>
                      </a:r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aumento en el precio del</a:t>
                      </a:r>
                      <a:r>
                        <a:rPr lang="es-AR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tratamiento conlleva al retiro con menos frecuencia y mayor riesgo de contaminación (volumen de acopio)</a:t>
                      </a:r>
                      <a:endParaRPr lang="es-A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lang="es-AR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Tecnológico: </a:t>
                      </a:r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Tratamiento</a:t>
                      </a:r>
                      <a:r>
                        <a:rPr lang="es-AR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efluentes cloacales mediante </a:t>
                      </a:r>
                      <a:r>
                        <a:rPr lang="es-AR" sz="10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biodigestor</a:t>
                      </a:r>
                      <a:r>
                        <a:rPr lang="es-AR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mejora las características de vuelco al cuerpo receptor.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AR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Legal</a:t>
                      </a:r>
                      <a:r>
                        <a:rPr lang="es-AR" sz="1000" b="1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s-AR" sz="1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migración de la norma ISO14001 conlleva a una ampliación en la identificación de aspectos ambientales durante su ciclo de vida.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lang="es-AR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Social: </a:t>
                      </a:r>
                      <a:r>
                        <a:rPr lang="es-ES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falta de cultura ambiental puede obstaculizar la aplicación de buenas practicas ambientales desarrolladas.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endParaRPr lang="es-A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15" name="Tab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415001"/>
              </p:ext>
            </p:extLst>
          </p:nvPr>
        </p:nvGraphicFramePr>
        <p:xfrm>
          <a:off x="7733569" y="979460"/>
          <a:ext cx="4265841" cy="265909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265841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431994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PARTES INTERESADAS EXTERNAS (Requerimientos)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2227096"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Cliente: Necesidad: </a:t>
                      </a:r>
                      <a:r>
                        <a:rPr lang="es-ES" sz="1000" b="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Contar con clausula por daño y remediación ambiental. </a:t>
                      </a:r>
                      <a:r>
                        <a:rPr lang="es-ES" sz="1000" b="1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Expectativa: </a:t>
                      </a:r>
                      <a:r>
                        <a:rPr lang="es-ES" sz="1000" b="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Evitar reclamos por derrames, o generación de residuos condicionados. Cuidar el prestigio de la empresa.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Autoridades de aplicación: Necesidad: </a:t>
                      </a:r>
                      <a:r>
                        <a:rPr lang="es-ES" sz="1000" b="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Cumplir con los requerimientos legales ambientales. </a:t>
                      </a:r>
                      <a:r>
                        <a:rPr lang="es-ES" sz="1000" b="1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Expectativa</a:t>
                      </a:r>
                      <a:r>
                        <a:rPr lang="es-ES" sz="1000" b="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: Obtener Auditorias positivas, evitar sanciones y multas.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Sociedad: Necesidad: </a:t>
                      </a:r>
                      <a:r>
                        <a:rPr lang="es-ES" sz="1000" b="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Ser transparentes en la comunicación de nuestros aspectos ambientales. </a:t>
                      </a:r>
                      <a:r>
                        <a:rPr lang="es-ES" sz="1000" b="1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Expectativa</a:t>
                      </a:r>
                      <a:r>
                        <a:rPr lang="es-ES" sz="1000" b="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: obtener buena imagen empresarial – evitar quejas, reclamos y denuncias.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u="none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Proveedores</a:t>
                      </a:r>
                      <a:r>
                        <a:rPr lang="es-ES" sz="1000" b="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– </a:t>
                      </a:r>
                      <a:r>
                        <a:rPr lang="es-ES" sz="1000" b="1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Necesidad</a:t>
                      </a:r>
                      <a:r>
                        <a:rPr lang="es-ES" sz="1000" b="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: Control en el almacenamiento de residuos, para facilitar el retiro. Señalización de caminos, acopio transitorio ordenado.  </a:t>
                      </a:r>
                      <a:r>
                        <a:rPr lang="es-ES" sz="1000" b="1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Expectativa: </a:t>
                      </a:r>
                      <a:r>
                        <a:rPr lang="es-ES" sz="1000" b="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Habilitaciones que certifiquen el tratamiento, Certificaciones. Realizar el retiro de residuos con cuidado.</a:t>
                      </a:r>
                      <a:endParaRPr lang="es-ES" sz="1000" b="1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4623516" y="2172727"/>
            <a:ext cx="2653724" cy="168661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mpd="dbl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60000"/>
              </a:spcBef>
            </a:pPr>
            <a:r>
              <a:rPr lang="es-ES" b="1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Proceso de Gestión Ambiental</a:t>
            </a:r>
          </a:p>
          <a:p>
            <a:pPr algn="ctr">
              <a:spcBef>
                <a:spcPct val="60000"/>
              </a:spcBef>
            </a:pPr>
            <a:r>
              <a:rPr lang="es-ES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Responsable:</a:t>
            </a:r>
          </a:p>
          <a:p>
            <a:pPr algn="ctr">
              <a:spcBef>
                <a:spcPct val="60000"/>
              </a:spcBef>
            </a:pPr>
            <a:r>
              <a:rPr lang="es-ES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Daniel Reyes</a:t>
            </a:r>
          </a:p>
          <a:p>
            <a:pPr>
              <a:spcBef>
                <a:spcPts val="0"/>
              </a:spcBef>
            </a:pPr>
            <a:endParaRPr lang="es-ES" sz="1000" dirty="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21" name="Flecha: a la derecha 20"/>
          <p:cNvSpPr/>
          <p:nvPr/>
        </p:nvSpPr>
        <p:spPr>
          <a:xfrm rot="8016026">
            <a:off x="6888500" y="1491763"/>
            <a:ext cx="791994" cy="3975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graphicFrame>
        <p:nvGraphicFramePr>
          <p:cNvPr id="20" name="Tabl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460068"/>
              </p:ext>
            </p:extLst>
          </p:nvPr>
        </p:nvGraphicFramePr>
        <p:xfrm>
          <a:off x="7733569" y="3683261"/>
          <a:ext cx="4306635" cy="306710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306635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448047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PARTES INTERESADAS INTERNAS (Requerimientos)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2619056"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u="none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Gerente Operativo:</a:t>
                      </a:r>
                      <a:r>
                        <a:rPr lang="es-ES" sz="1000" b="1" u="none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 </a:t>
                      </a:r>
                      <a:r>
                        <a:rPr lang="es-ES" sz="1000" b="1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- Necesidad:</a:t>
                      </a:r>
                      <a:r>
                        <a:rPr lang="es-ES" sz="100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 Obtener</a:t>
                      </a:r>
                      <a:r>
                        <a:rPr lang="es-ES" sz="1000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 informe de la situación ambiental actual, auditorias. Recibir resultados  en reuniones de comité. </a:t>
                      </a:r>
                      <a:r>
                        <a:rPr lang="es-ES" sz="1000" b="1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Expectativa: </a:t>
                      </a:r>
                      <a:r>
                        <a:rPr lang="es-ES" sz="1000" b="0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Encontrar liderazgo y acompañamiento en la gestión ambiental.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u="none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Gerente RRHH -  Necesidad: </a:t>
                      </a:r>
                      <a:r>
                        <a:rPr lang="es-ES" sz="1000" b="0" u="none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Asegurar la formación del personal en materia ambiental. </a:t>
                      </a:r>
                      <a:r>
                        <a:rPr lang="es-ES" sz="1000" b="1" u="none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Expectativas: </a:t>
                      </a:r>
                      <a:r>
                        <a:rPr lang="es-ES" sz="1000" b="0" u="none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Colaboración por parte del Gerente de RRHH facilitando el RRHH, el espacio físico y los tiempos de capacitación. Gestión de la formación continua del Responsable de Gestión Ambiental.</a:t>
                      </a:r>
                      <a:endParaRPr lang="es-ES" sz="1000" b="1" u="none" baseline="0" dirty="0">
                        <a:solidFill>
                          <a:schemeClr val="tx1"/>
                        </a:solidFill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000" b="1" u="none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Personal: Necesidad: </a:t>
                      </a:r>
                      <a:r>
                        <a:rPr lang="es-ES" sz="1000" b="0" u="none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Cumplimiento del marco legal aplicable, que evite la interrupción del servicio. </a:t>
                      </a:r>
                      <a:r>
                        <a:rPr lang="es-ES" sz="1000" b="1" u="none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Expectativas: </a:t>
                      </a:r>
                      <a:r>
                        <a:rPr lang="es-ES" sz="1000" b="0" u="none" baseline="0" dirty="0">
                          <a:solidFill>
                            <a:schemeClr val="tx1"/>
                          </a:solidFill>
                          <a:latin typeface="Tahoma" pitchFamily="34" charset="0"/>
                        </a:rPr>
                        <a:t>realizar todas las tareas teniendo en cuenta el cuidado del medioambiente. Tener en claro los aspectos ambientales de su sector y sus actividades.</a:t>
                      </a:r>
                      <a:endParaRPr lang="es-ES" sz="1000" b="1" u="none" baseline="0" dirty="0">
                        <a:solidFill>
                          <a:schemeClr val="tx1"/>
                        </a:solidFill>
                        <a:latin typeface="Tahoma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sp>
        <p:nvSpPr>
          <p:cNvPr id="23" name="Flecha: a la derecha 22"/>
          <p:cNvSpPr/>
          <p:nvPr/>
        </p:nvSpPr>
        <p:spPr>
          <a:xfrm rot="2961692">
            <a:off x="4181641" y="1508594"/>
            <a:ext cx="791994" cy="3975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4" name="Flecha: a la derecha 23"/>
          <p:cNvSpPr/>
          <p:nvPr/>
        </p:nvSpPr>
        <p:spPr>
          <a:xfrm rot="18898619">
            <a:off x="4194297" y="4164543"/>
            <a:ext cx="791994" cy="3975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5" name="Flecha: a la derecha 24"/>
          <p:cNvSpPr/>
          <p:nvPr/>
        </p:nvSpPr>
        <p:spPr>
          <a:xfrm rot="13505281">
            <a:off x="6917216" y="4177422"/>
            <a:ext cx="791994" cy="3975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337" y="188179"/>
            <a:ext cx="5343647" cy="909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0915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300530"/>
              </p:ext>
            </p:extLst>
          </p:nvPr>
        </p:nvGraphicFramePr>
        <p:xfrm>
          <a:off x="464184" y="602536"/>
          <a:ext cx="2915120" cy="152996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15120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265043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¿CON QUÉ?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1186773">
                <a:tc>
                  <a:txBody>
                    <a:bodyPr/>
                    <a:lstStyle/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Teléfono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Computadoras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Acceso Internet 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Vehículo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Observación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9" name="Tab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008766"/>
              </p:ext>
            </p:extLst>
          </p:nvPr>
        </p:nvGraphicFramePr>
        <p:xfrm>
          <a:off x="464184" y="2654727"/>
          <a:ext cx="2915120" cy="15758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15120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243616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9779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ct val="35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Tarea / actividad operativa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ct val="35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Requerimientos </a:t>
                      </a: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 cliente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ct val="35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Requerimientos SGI organización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ct val="35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ISO14001:2015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ct val="35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Requisitos legales ambientales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057258"/>
              </p:ext>
            </p:extLst>
          </p:nvPr>
        </p:nvGraphicFramePr>
        <p:xfrm>
          <a:off x="459664" y="4809906"/>
          <a:ext cx="2915120" cy="177104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15120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320894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¿</a:t>
                      </a:r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CÓMO</a:t>
                      </a:r>
                      <a:r>
                        <a:rPr lang="es-AR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1405288">
                <a:tc>
                  <a:txBody>
                    <a:bodyPr/>
                    <a:lstStyle/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Manual Integrado y Procedimientos 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Instructivos  y formularios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Normas con que se implementan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Requerimientos del cliente u otras partes interesadas.</a:t>
                      </a:r>
                      <a:endParaRPr lang="es-AR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13" name="Tab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444709"/>
              </p:ext>
            </p:extLst>
          </p:nvPr>
        </p:nvGraphicFramePr>
        <p:xfrm>
          <a:off x="8971016" y="5422827"/>
          <a:ext cx="2981737" cy="120399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81737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310709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INDICADORES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89328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AR" sz="1000" dirty="0">
                          <a:latin typeface="Tahoma" pitchFamily="34" charset="0"/>
                        </a:rPr>
                        <a:t>Indicadores de Gestión Ambiental</a:t>
                      </a:r>
                    </a:p>
                    <a:p>
                      <a:pPr>
                        <a:spcBef>
                          <a:spcPts val="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AR" sz="1000" dirty="0">
                          <a:latin typeface="Tahoma" pitchFamily="34" charset="0"/>
                        </a:rPr>
                        <a:t>Informes de auditorías internas/ externas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14" name="Tab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159468"/>
              </p:ext>
            </p:extLst>
          </p:nvPr>
        </p:nvGraphicFramePr>
        <p:xfrm>
          <a:off x="9021969" y="2487600"/>
          <a:ext cx="2981737" cy="253136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81737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230733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SALIDAS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2075577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Tahoma" pitchFamily="34" charset="0"/>
                        </a:rPr>
                        <a:t>Matriz</a:t>
                      </a:r>
                      <a:r>
                        <a:rPr lang="es-ES" sz="1100" baseline="0" dirty="0">
                          <a:latin typeface="Tahoma" pitchFamily="34" charset="0"/>
                        </a:rPr>
                        <a:t> de Aspectos e Impactos</a:t>
                      </a:r>
                      <a:endParaRPr lang="es-ES" sz="1100" dirty="0">
                        <a:latin typeface="Tahoma" pitchFamily="34" charset="0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Tahoma" pitchFamily="34" charset="0"/>
                        </a:rPr>
                        <a:t>Informes de auditorias 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baseline="0" dirty="0">
                          <a:latin typeface="Tahoma" pitchFamily="34" charset="0"/>
                        </a:rPr>
                        <a:t>Registros de derrames.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baseline="0" dirty="0">
                          <a:latin typeface="Tahoma" pitchFamily="34" charset="0"/>
                        </a:rPr>
                        <a:t>Registros de generación de residuos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baseline="0" dirty="0">
                          <a:latin typeface="Tahoma" pitchFamily="34" charset="0"/>
                        </a:rPr>
                        <a:t>Minutas de Reunión</a:t>
                      </a:r>
                      <a:endParaRPr lang="es-ES" sz="1100" dirty="0">
                        <a:latin typeface="Tahoma" pitchFamily="34" charset="0"/>
                      </a:endParaRP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Tahoma" pitchFamily="34" charset="0"/>
                        </a:rPr>
                        <a:t>Reuniones de SGI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Tahoma" pitchFamily="34" charset="0"/>
                        </a:rPr>
                        <a:t>Revisión por la dirección.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Tahoma" pitchFamily="34" charset="0"/>
                        </a:rPr>
                        <a:t>Registros de capacitación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Tahoma" pitchFamily="34" charset="0"/>
                        </a:rPr>
                        <a:t>Programas de Capacitación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latin typeface="Tahoma" pitchFamily="34" charset="0"/>
                        </a:rPr>
                        <a:t>Programa</a:t>
                      </a:r>
                      <a:r>
                        <a:rPr lang="es-ES" sz="1100" baseline="0" dirty="0">
                          <a:latin typeface="Tahoma" pitchFamily="34" charset="0"/>
                        </a:rPr>
                        <a:t> de Ambiente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15" name="Tab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198371"/>
              </p:ext>
            </p:extLst>
          </p:nvPr>
        </p:nvGraphicFramePr>
        <p:xfrm>
          <a:off x="8958470" y="494749"/>
          <a:ext cx="2981737" cy="152996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81737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265042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¿CON QUIÉN? PARTES INTERESADAS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620828"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Personal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Clientes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Autoridades de aplicación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Responsables de sector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Gerencia</a:t>
                      </a:r>
                      <a:r>
                        <a:rPr lang="es-ES" sz="110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Operativa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2"/>
                        </a:buBlip>
                      </a:pPr>
                      <a:r>
                        <a:rPr lang="es-ES" sz="1100" baseline="0" dirty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Gerencia RR.HH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graphicFrame>
        <p:nvGraphicFramePr>
          <p:cNvPr id="16" name="Tabl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432130"/>
              </p:ext>
            </p:extLst>
          </p:nvPr>
        </p:nvGraphicFramePr>
        <p:xfrm>
          <a:off x="4107624" y="5487766"/>
          <a:ext cx="4166596" cy="10363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166596">
                  <a:extLst>
                    <a:ext uri="{9D8B030D-6E8A-4147-A177-3AD203B41FA5}">
                      <a16:colId xmlns="" xmlns:a16="http://schemas.microsoft.com/office/drawing/2014/main" val="1157492327"/>
                    </a:ext>
                  </a:extLst>
                </a:gridCol>
              </a:tblGrid>
              <a:tr h="168983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81190746"/>
                  </a:ext>
                </a:extLst>
              </a:tr>
              <a:tr h="620828">
                <a:tc>
                  <a:txBody>
                    <a:bodyPr/>
                    <a:lstStyle/>
                    <a:p>
                      <a:pPr algn="ctr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1000" dirty="0">
                          <a:latin typeface="Tahoma" pitchFamily="34" charset="0"/>
                        </a:rPr>
                        <a:t>1) Procesos SGI</a:t>
                      </a:r>
                    </a:p>
                    <a:p>
                      <a:pPr algn="ctr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1000" dirty="0">
                          <a:latin typeface="Tahoma" pitchFamily="34" charset="0"/>
                        </a:rPr>
                        <a:t>2) Procesos Principales de la organización</a:t>
                      </a:r>
                    </a:p>
                    <a:p>
                      <a:pPr algn="ctr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1000" dirty="0">
                          <a:latin typeface="Tahoma" pitchFamily="34" charset="0"/>
                        </a:rPr>
                        <a:t>3) Procesos</a:t>
                      </a:r>
                      <a:r>
                        <a:rPr lang="es-ES" sz="1000" baseline="0" dirty="0">
                          <a:latin typeface="Tahoma" pitchFamily="34" charset="0"/>
                        </a:rPr>
                        <a:t> RRHH</a:t>
                      </a:r>
                    </a:p>
                    <a:p>
                      <a:pPr algn="ctr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s-ES" sz="1000" baseline="0" dirty="0">
                          <a:latin typeface="Tahoma" pitchFamily="34" charset="0"/>
                        </a:rPr>
                        <a:t>4)  Proceso de Comercialización </a:t>
                      </a:r>
                      <a:endParaRPr lang="es-ES" sz="1000" dirty="0">
                        <a:latin typeface="Tahoma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747012"/>
                  </a:ext>
                </a:extLst>
              </a:tr>
            </a:tbl>
          </a:graphicData>
        </a:graphic>
      </p:graphicFrame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3825409" y="368290"/>
            <a:ext cx="4731026" cy="438581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mpd="dbl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60000"/>
              </a:spcBef>
            </a:pPr>
            <a:r>
              <a:rPr lang="es-ES" b="1" u="sng" dirty="0">
                <a:solidFill>
                  <a:schemeClr val="hlink"/>
                </a:solidFill>
              </a:rPr>
              <a:t>Proceso de Gestión Ambiental</a:t>
            </a:r>
          </a:p>
          <a:p>
            <a:pPr>
              <a:spcBef>
                <a:spcPct val="60000"/>
              </a:spcBef>
            </a:pPr>
            <a:r>
              <a:rPr lang="es-ES" sz="1600" b="1" u="sng" dirty="0"/>
              <a:t>Responsable:  Responsable G.A.</a:t>
            </a:r>
            <a:endParaRPr lang="es-ES" sz="1200" b="1" u="sng" dirty="0"/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1100" dirty="0">
                <a:latin typeface="Arial" pitchFamily="34" charset="0"/>
                <a:cs typeface="Arial" panose="020B0604020202020204" pitchFamily="34" charset="0"/>
              </a:rPr>
              <a:t>Identificar aspectos ambientales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1100" dirty="0">
                <a:latin typeface="Arial" pitchFamily="34" charset="0"/>
                <a:cs typeface="Arial" panose="020B0604020202020204" pitchFamily="34" charset="0"/>
              </a:rPr>
              <a:t>Implementar y mantener  medidas de control frente a AAS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1100" dirty="0">
                <a:latin typeface="Tahoma" pitchFamily="34" charset="0"/>
              </a:rPr>
              <a:t>Mantener comunicación permanente con autoridades de aplicación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indent="-171450">
              <a:spcBef>
                <a:spcPct val="20000"/>
              </a:spcBef>
              <a:buBlip>
                <a:blip r:embed="rId2"/>
              </a:buBlip>
            </a:pPr>
            <a:r>
              <a:rPr lang="es-ES" sz="1100" dirty="0">
                <a:latin typeface="Tahoma" pitchFamily="34" charset="0"/>
              </a:rPr>
              <a:t>Compra de elementos incluidos en las medidas de control</a:t>
            </a:r>
          </a:p>
          <a:p>
            <a:pPr indent="-171450">
              <a:spcBef>
                <a:spcPct val="20000"/>
              </a:spcBef>
              <a:buBlip>
                <a:blip r:embed="rId2"/>
              </a:buBlip>
            </a:pPr>
            <a:r>
              <a:rPr lang="es-ES" sz="1100" dirty="0">
                <a:latin typeface="Tahoma" pitchFamily="34" charset="0"/>
              </a:rPr>
              <a:t>Capacitación en cuestiones ambientales al personal</a:t>
            </a:r>
          </a:p>
          <a:p>
            <a:pPr>
              <a:spcBef>
                <a:spcPts val="0"/>
              </a:spcBef>
              <a:buFontTx/>
              <a:buBlip>
                <a:blip r:embed="rId2"/>
              </a:buBlip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Realizar muestreos, mediciones, seguimiento de parámetros..</a:t>
            </a: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Realizar Auditorias  Ambientales en la base.</a:t>
            </a: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Concientizar al personal en temas ambientales.</a:t>
            </a: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Preparar el informe para revisión por la dirección. </a:t>
            </a: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Captar las necesidades, sugerencias y reclamos de ambiente</a:t>
            </a: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Registrar cantidades de residuos generados</a:t>
            </a: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Registrar residuos condicionados generados.</a:t>
            </a:r>
          </a:p>
          <a:p>
            <a:pPr>
              <a:buBlip>
                <a:blip r:embed="rId2"/>
              </a:buBlip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Registrar derrames generados.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IDENTIFICAR NECESIDADES DE REVISIÓN DE INSTRUCTIVOS /PROCEDIMIENTOS.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CAPACITAR RESPECTO METODOLOGÍAS DE TRABAJO / PROCEDIMIENTOS,ETC.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PARTICIPAR PROACTIVAMENTE RESPECTO ACTIVIDADES DE CSMA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RESPONDER POR CUESTIONES RELACIONADAS AL SGI.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PARTICIPAR EN REUNIONES DE COMITÉ</a:t>
            </a:r>
          </a:p>
        </p:txBody>
      </p:sp>
      <p:sp>
        <p:nvSpPr>
          <p:cNvPr id="3" name="Flecha: a la derecha 2"/>
          <p:cNvSpPr/>
          <p:nvPr/>
        </p:nvSpPr>
        <p:spPr>
          <a:xfrm>
            <a:off x="3432766" y="1129662"/>
            <a:ext cx="344768" cy="3092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8" name="Flecha: a la derecha 17"/>
          <p:cNvSpPr/>
          <p:nvPr/>
        </p:nvSpPr>
        <p:spPr>
          <a:xfrm>
            <a:off x="3443701" y="3012865"/>
            <a:ext cx="322898" cy="375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9" name="Flecha: a la derecha 18"/>
          <p:cNvSpPr/>
          <p:nvPr/>
        </p:nvSpPr>
        <p:spPr>
          <a:xfrm rot="19183702">
            <a:off x="3465887" y="5012296"/>
            <a:ext cx="396135" cy="3092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4" name="Flecha: a la izquierda y derecha 3"/>
          <p:cNvSpPr/>
          <p:nvPr/>
        </p:nvSpPr>
        <p:spPr>
          <a:xfrm>
            <a:off x="8534400" y="1097576"/>
            <a:ext cx="424069" cy="21439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0" name="Flecha: a la derecha 17"/>
          <p:cNvSpPr/>
          <p:nvPr/>
        </p:nvSpPr>
        <p:spPr>
          <a:xfrm>
            <a:off x="8617749" y="3138020"/>
            <a:ext cx="322898" cy="375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1" name="Flecha: a la izquierda y derecha 3"/>
          <p:cNvSpPr/>
          <p:nvPr/>
        </p:nvSpPr>
        <p:spPr>
          <a:xfrm rot="5400000">
            <a:off x="6023008" y="5016232"/>
            <a:ext cx="424069" cy="21439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3" name="Flecha: a la derecha 18"/>
          <p:cNvSpPr/>
          <p:nvPr/>
        </p:nvSpPr>
        <p:spPr>
          <a:xfrm rot="2844061">
            <a:off x="8495879" y="5055830"/>
            <a:ext cx="396135" cy="3092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30194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861663"/>
              </p:ext>
            </p:extLst>
          </p:nvPr>
        </p:nvGraphicFramePr>
        <p:xfrm>
          <a:off x="0" y="0"/>
          <a:ext cx="12192000" cy="85587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513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620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70663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5193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26423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58171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46628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323427"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MATRIZ DE RIESGOS PROCESO: Gestión</a:t>
                      </a:r>
                      <a:r>
                        <a:rPr lang="es-AR" sz="1000" b="1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Ambiental.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1" u="none" strike="noStrike" dirty="0">
                          <a:effectLst/>
                        </a:rPr>
                        <a:t>Fecha de actualización   15/10/2019</a:t>
                      </a:r>
                      <a:endParaRPr lang="es-AR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/>
                      <a:endParaRPr lang="es-AR" sz="1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48" marR="8648" marT="8648" marB="0" anchor="ctr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970280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u="none" strike="noStrike" dirty="0">
                          <a:effectLst/>
                          <a:latin typeface="+mn-lt"/>
                        </a:rPr>
                        <a:t>RIESGOS Y OPORTUNIDADES ¿Qué puede salir mal / bien?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u="none" strike="noStrike" dirty="0">
                          <a:effectLst/>
                          <a:latin typeface="+mn-lt"/>
                        </a:rPr>
                        <a:t>CONSECUENCIA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u="none" strike="noStrike" dirty="0">
                          <a:effectLst/>
                          <a:latin typeface="+mn-lt"/>
                        </a:rPr>
                        <a:t>NIVEL DE RIESGO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u="none" strike="noStrike" dirty="0">
                          <a:effectLst/>
                          <a:latin typeface="+mn-lt"/>
                        </a:rPr>
                        <a:t>ACCION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u="none" strike="noStrike" dirty="0">
                          <a:effectLst/>
                          <a:latin typeface="+mn-lt"/>
                        </a:rPr>
                        <a:t>RESPONSABLES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u="none" strike="noStrike" dirty="0">
                          <a:effectLst/>
                          <a:latin typeface="+mn-lt"/>
                        </a:rPr>
                        <a:t>FEHA DE IMPLEMENTACION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u="none" strike="noStrike" dirty="0">
                          <a:effectLst/>
                          <a:latin typeface="+mn-lt"/>
                        </a:rPr>
                        <a:t>EFICACIA DE LAS ACCIONES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ctr"/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000" u="none" strike="noStrike" dirty="0">
                          <a:effectLst/>
                          <a:latin typeface="+mn-lt"/>
                        </a:rPr>
                        <a:t>RECOMENDACIONES/</a:t>
                      </a:r>
                    </a:p>
                    <a:p>
                      <a:pPr algn="ctr" fontAlgn="ctr"/>
                      <a:r>
                        <a:rPr lang="es-AR" sz="1000" u="none" strike="noStrike" dirty="0">
                          <a:effectLst/>
                          <a:latin typeface="+mn-lt"/>
                        </a:rPr>
                        <a:t>OBSERVACIONES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648" marR="8648" marT="8648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48979">
                <a:tc rowSpan="3">
                  <a:txBody>
                    <a:bodyPr/>
                    <a:lstStyle/>
                    <a:p>
                      <a:pPr algn="ctr"/>
                      <a:r>
                        <a:rPr lang="es-AR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Toma de conciencia deficiente por parte del personal en materia ambiental.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Reclamos</a:t>
                      </a:r>
                      <a:r>
                        <a:rPr lang="es-AR" sz="1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/ quejas de la sociedad</a:t>
                      </a:r>
                      <a:endParaRPr lang="es-AR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00" b="1" i="0" baseline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 (2) =3</a:t>
                      </a:r>
                    </a:p>
                    <a:p>
                      <a:pPr algn="ctr"/>
                      <a:r>
                        <a:rPr lang="es-AR" sz="1000" b="1" i="0" baseline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 (3)=7</a:t>
                      </a:r>
                    </a:p>
                    <a:p>
                      <a:pPr algn="ctr"/>
                      <a:r>
                        <a:rPr lang="es-AR" sz="1000" b="1" i="0" baseline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NR= 21</a:t>
                      </a:r>
                    </a:p>
                    <a:p>
                      <a:pPr algn="ctr"/>
                      <a:r>
                        <a:rPr lang="es-AR" sz="1000" b="1" i="0" baseline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 ACEPTABLE </a:t>
                      </a:r>
                    </a:p>
                    <a:p>
                      <a:pPr algn="ctr"/>
                      <a:r>
                        <a:rPr lang="es-AR" sz="1000" b="1" i="0" baseline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TIPO C</a:t>
                      </a:r>
                      <a:endParaRPr lang="es-AR" sz="1000" b="1" i="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Identificar las necesidades</a:t>
                      </a:r>
                      <a:r>
                        <a:rPr lang="es-AR" sz="1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capacitación en materia ambiental.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Estar preparados para dar respuesta </a:t>
                      </a:r>
                      <a:r>
                        <a:rPr lang="es-AR" sz="1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 cliente / sociedad / ente.</a:t>
                      </a:r>
                      <a:endParaRPr lang="es-AR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endParaRPr lang="es-AR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Jefe de planta </a:t>
                      </a:r>
                      <a:r>
                        <a:rPr lang="es-AR" sz="10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</a:t>
                      </a:r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gestión ambiental /</a:t>
                      </a:r>
                      <a:r>
                        <a:rPr lang="es-AR" sz="1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Gerencia operativa/ RRHH.</a:t>
                      </a:r>
                      <a:endParaRPr lang="es-AR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Anualmente a través de evaluaciones de desempeño, </a:t>
                      </a:r>
                      <a:r>
                        <a:rPr lang="es-AR" sz="10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Check-List</a:t>
                      </a:r>
                      <a:r>
                        <a:rPr lang="es-A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planta, </a:t>
                      </a:r>
                      <a:r>
                        <a:rPr lang="es-AR" sz="10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NCs</a:t>
                      </a:r>
                      <a:r>
                        <a:rPr lang="es-A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etc.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 15/10/2019 se detecta que la información para establecer la eficacia de las acciones no es suficiente. Por eso se redacta una comunicación con el objetivo de establecer controles a través del </a:t>
                      </a:r>
                      <a:r>
                        <a:rPr lang="es-A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Check-List</a:t>
                      </a:r>
                      <a:r>
                        <a:rPr lang="es-A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planta y Evaluaciones de desempeño. </a:t>
                      </a: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-Modificar </a:t>
                      </a:r>
                      <a:r>
                        <a:rPr lang="es-AR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Check-List</a:t>
                      </a:r>
                      <a:r>
                        <a:rPr lang="es-AR" sz="9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recorrida de planta para verificar los tachos de residuos y arrojar datos sobre el desempeño ambiental.</a:t>
                      </a:r>
                      <a:endParaRPr lang="es-A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07063">
                <a:tc vMerge="1">
                  <a:txBody>
                    <a:bodyPr/>
                    <a:lstStyle/>
                    <a:p>
                      <a:pPr algn="l"/>
                      <a:endParaRPr lang="es-AR" sz="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Distorsión de indicadores </a:t>
                      </a:r>
                      <a:r>
                        <a:rPr lang="es-AR" sz="1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ambientales</a:t>
                      </a:r>
                      <a:endParaRPr lang="es-AR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 (2) =3</a:t>
                      </a:r>
                    </a:p>
                    <a:p>
                      <a:pPr algn="ctr"/>
                      <a:r>
                        <a:rPr lang="es-AR" sz="10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 (3)=7</a:t>
                      </a:r>
                    </a:p>
                    <a:p>
                      <a:pPr algn="ctr"/>
                      <a:r>
                        <a:rPr lang="es-AR" sz="10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NR= 21</a:t>
                      </a:r>
                    </a:p>
                    <a:p>
                      <a:pPr algn="ctr"/>
                      <a:r>
                        <a:rPr lang="es-AR" sz="10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 ACEPTABLE </a:t>
                      </a:r>
                    </a:p>
                    <a:p>
                      <a:pPr algn="ctr"/>
                      <a:r>
                        <a:rPr lang="es-AR" sz="10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TIPO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Establecer alternativas</a:t>
                      </a:r>
                      <a:r>
                        <a:rPr lang="es-AR" sz="1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formación para asegurar la eficacia.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Realizar visitas gerenciales para identificar desvíos.</a:t>
                      </a:r>
                    </a:p>
                    <a:p>
                      <a:pPr algn="l"/>
                      <a:endParaRPr lang="es-AR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dirty="0" err="1">
                          <a:latin typeface="Arial" pitchFamily="34" charset="0"/>
                          <a:cs typeface="Arial" pitchFamily="34" charset="0"/>
                        </a:rPr>
                        <a:t>Resp</a:t>
                      </a:r>
                      <a:r>
                        <a:rPr lang="es-AR" sz="1000" dirty="0">
                          <a:latin typeface="Arial" pitchFamily="34" charset="0"/>
                          <a:cs typeface="Arial" pitchFamily="34" charset="0"/>
                        </a:rPr>
                        <a:t>.</a:t>
                      </a:r>
                      <a:r>
                        <a:rPr lang="es-AR" sz="1000" baseline="0" dirty="0">
                          <a:latin typeface="Arial" pitchFamily="34" charset="0"/>
                          <a:cs typeface="Arial" pitchFamily="34" charset="0"/>
                        </a:rPr>
                        <a:t> Gestión ambiental / </a:t>
                      </a:r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Gerencia. </a:t>
                      </a:r>
                      <a:r>
                        <a:rPr lang="es-AR" sz="1000" b="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</a:t>
                      </a:r>
                      <a:r>
                        <a:rPr lang="es-AR" sz="1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CSMA.</a:t>
                      </a:r>
                      <a:endParaRPr lang="es-AR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Implementado anualmente.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100" dirty="0"/>
                        <a:t>Las acciones fueron eficaces.</a:t>
                      </a: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30642">
                <a:tc vMerge="1">
                  <a:txBody>
                    <a:bodyPr/>
                    <a:lstStyle/>
                    <a:p>
                      <a:pPr algn="l"/>
                      <a:endParaRPr lang="es-AR" sz="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Multas por parte del ente de aplicación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00" b="1" i="0" baseline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 (2) =3</a:t>
                      </a:r>
                    </a:p>
                    <a:p>
                      <a:pPr algn="ctr"/>
                      <a:r>
                        <a:rPr lang="es-AR" sz="1000" b="1" i="0" baseline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 (3)=7</a:t>
                      </a:r>
                    </a:p>
                    <a:p>
                      <a:pPr algn="ctr"/>
                      <a:r>
                        <a:rPr lang="es-AR" sz="1000" b="1" i="0" baseline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NR= 21</a:t>
                      </a:r>
                    </a:p>
                    <a:p>
                      <a:pPr algn="ctr"/>
                      <a:r>
                        <a:rPr lang="es-AR" sz="1000" b="1" i="0" baseline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 ACEPTABLE </a:t>
                      </a:r>
                    </a:p>
                    <a:p>
                      <a:pPr algn="ctr"/>
                      <a:r>
                        <a:rPr lang="es-AR" sz="1000" b="1" i="0" baseline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TIPO C</a:t>
                      </a:r>
                      <a:endParaRPr lang="es-AR" sz="1000" b="1" i="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Inspeccionar</a:t>
                      </a:r>
                      <a:r>
                        <a:rPr lang="es-AR" sz="1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áreas de trabajo. Mantener Matriz Legal actualizada en materia ambiental. Cumplir con los requisitos ambientales exigidos por la autoridad de aplicación.</a:t>
                      </a:r>
                      <a:endParaRPr lang="es-AR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0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</a:t>
                      </a:r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Gestión  Ambiental.</a:t>
                      </a:r>
                      <a:r>
                        <a:rPr lang="es-AR" sz="1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AR" sz="1000" b="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Téc</a:t>
                      </a:r>
                      <a:r>
                        <a:rPr lang="es-AR" sz="1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CSMA.</a:t>
                      </a:r>
                      <a:endParaRPr lang="es-AR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Ya implementado.</a:t>
                      </a:r>
                    </a:p>
                    <a:p>
                      <a:pPr algn="l"/>
                      <a:endParaRPr lang="es-AR" sz="1000" b="1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A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Implementado mediante la confección de una Matriz Legal y evaluación de cumplimiento.</a:t>
                      </a: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9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083405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Incumplir los requerimientos del cliente y/o ente de control </a:t>
                      </a:r>
                    </a:p>
                    <a:p>
                      <a:pPr algn="ctr"/>
                      <a:endParaRPr lang="es-AR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Multas</a:t>
                      </a:r>
                      <a:r>
                        <a:rPr lang="es-AR" sz="1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/ onerosidad</a:t>
                      </a:r>
                      <a:endParaRPr lang="es-AR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 (2) =3</a:t>
                      </a:r>
                    </a:p>
                    <a:p>
                      <a:pPr algn="ctr"/>
                      <a:r>
                        <a:rPr lang="es-AR" sz="10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 (3)=7</a:t>
                      </a:r>
                    </a:p>
                    <a:p>
                      <a:pPr algn="ctr"/>
                      <a:r>
                        <a:rPr lang="es-AR" sz="10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NR= 21</a:t>
                      </a:r>
                    </a:p>
                    <a:p>
                      <a:pPr algn="ctr"/>
                      <a:r>
                        <a:rPr lang="es-AR" sz="10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 ACEPTABLE </a:t>
                      </a:r>
                    </a:p>
                    <a:p>
                      <a:pPr algn="ctr"/>
                      <a:r>
                        <a:rPr lang="es-AR" sz="10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TIPO C</a:t>
                      </a:r>
                    </a:p>
                    <a:p>
                      <a:pPr algn="l"/>
                      <a:endParaRPr lang="es-A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Inspeccionar</a:t>
                      </a:r>
                      <a:r>
                        <a:rPr lang="es-AR" sz="1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áreas de trabajo. Mantener Matriz Legal actualizada en materia ambiental. Cumplir con los requisitos ambientales exigidos por la autoridad de aplicación.</a:t>
                      </a:r>
                      <a:endParaRPr lang="es-AR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0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</a:t>
                      </a:r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Gestión  Ambiental</a:t>
                      </a:r>
                      <a:r>
                        <a:rPr lang="es-AR" sz="1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s-AR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Ya implementado.</a:t>
                      </a:r>
                    </a:p>
                    <a:p>
                      <a:endParaRPr lang="es-AR" sz="1000" b="1" dirty="0">
                        <a:solidFill>
                          <a:srgbClr val="00B05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Implementado mediante la confección de una Matriz Legal y evaluación de cumplimiento.</a:t>
                      </a: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planea implementar un “manual del cliente” para identificar y comunicar los requisitos de cada cliente.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23427">
                <a:tc vMerge="1">
                  <a:txBody>
                    <a:bodyPr/>
                    <a:lstStyle/>
                    <a:p>
                      <a:pPr algn="ctr"/>
                      <a:endParaRPr lang="es-AR" sz="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Interrupción operativa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00" b="1" i="0" baseline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 (2) =3</a:t>
                      </a:r>
                    </a:p>
                    <a:p>
                      <a:pPr algn="ctr"/>
                      <a:r>
                        <a:rPr lang="es-AR" sz="1000" b="1" i="0" baseline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 (3)=7</a:t>
                      </a:r>
                    </a:p>
                    <a:p>
                      <a:pPr algn="ctr"/>
                      <a:r>
                        <a:rPr lang="es-AR" sz="1000" b="1" i="0" baseline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NR= 21</a:t>
                      </a:r>
                    </a:p>
                    <a:p>
                      <a:pPr algn="ctr"/>
                      <a:r>
                        <a:rPr lang="es-AR" sz="1000" b="1" i="0" baseline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 ACEPTABLE </a:t>
                      </a:r>
                    </a:p>
                    <a:p>
                      <a:pPr algn="ctr"/>
                      <a:r>
                        <a:rPr lang="es-AR" sz="1000" b="1" i="0" baseline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TIPO C</a:t>
                      </a:r>
                    </a:p>
                    <a:p>
                      <a:pPr algn="l"/>
                      <a:endParaRPr lang="es-A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Inspeccionar</a:t>
                      </a:r>
                      <a:r>
                        <a:rPr lang="es-AR" sz="1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áreas de trabajo. Mantener Matriz Legal actualizada en materia ambiental. Cumplir con los requisitos ambientales exigidos por la autoridad de aplicación.</a:t>
                      </a:r>
                      <a:endParaRPr lang="es-AR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0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</a:t>
                      </a:r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Gestión  Ambiental</a:t>
                      </a:r>
                      <a:r>
                        <a:rPr lang="es-AR" sz="1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s-AR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Ya implementado.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Implementado mediante la confección de una Matriz Legal y evaluación de cumplimiento.</a:t>
                      </a: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planea implementar un “manual del cliente” para identificar y comunicar los requisitos de cada cliente.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23427">
                <a:tc vMerge="1">
                  <a:txBody>
                    <a:bodyPr/>
                    <a:lstStyle/>
                    <a:p>
                      <a:pPr algn="ctr"/>
                      <a:endParaRPr lang="es-AR" sz="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insatisfacción del cliente</a:t>
                      </a:r>
                    </a:p>
                    <a:p>
                      <a:endParaRPr lang="es-A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0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 (2) =3</a:t>
                      </a:r>
                    </a:p>
                    <a:p>
                      <a:pPr algn="ctr"/>
                      <a:r>
                        <a:rPr lang="es-AR" sz="10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 (3)=7</a:t>
                      </a:r>
                    </a:p>
                    <a:p>
                      <a:pPr algn="ctr"/>
                      <a:r>
                        <a:rPr lang="es-AR" sz="10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NR= 21</a:t>
                      </a:r>
                    </a:p>
                    <a:p>
                      <a:pPr algn="ctr"/>
                      <a:r>
                        <a:rPr lang="es-AR" sz="10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 ACEPTABLE </a:t>
                      </a:r>
                    </a:p>
                    <a:p>
                      <a:pPr algn="ctr"/>
                      <a:r>
                        <a:rPr lang="es-AR" sz="1000" b="1" i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TIPO C</a:t>
                      </a:r>
                    </a:p>
                    <a:p>
                      <a:pPr algn="l"/>
                      <a:endParaRPr lang="es-A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Inspeccionar</a:t>
                      </a:r>
                      <a:r>
                        <a:rPr lang="es-AR" sz="1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áreas de trabajo. Mantener Matriz Legal actualizada en materia ambiental. Cumplir con los requisitos ambientales exigidos por la autoridad de aplicación.</a:t>
                      </a:r>
                      <a:endParaRPr lang="es-AR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0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</a:t>
                      </a:r>
                      <a:r>
                        <a:rPr lang="es-AR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Gestión  Ambiental</a:t>
                      </a:r>
                      <a:r>
                        <a:rPr lang="es-AR" sz="1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s-AR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Ya implementado.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Implementado mediante la confección de una Matriz Legal y evaluación de cumplimiento.</a:t>
                      </a:r>
                    </a:p>
                  </a:txBody>
                  <a:tcPr marL="8648" marR="8648" marT="8648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planea implementar un “manual del cliente” para identificar y comunicar los requisitos de cada cliente.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0707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4867984" y="22999"/>
            <a:ext cx="266419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Diapositiva 4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466"/>
          <a:stretch/>
        </p:blipFill>
        <p:spPr bwMode="auto">
          <a:xfrm>
            <a:off x="2002508" y="669331"/>
            <a:ext cx="8151551" cy="2775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2" name="11 Objeto"/>
          <p:cNvGraphicFramePr>
            <a:graphicFrameLocks noChangeAspect="1"/>
          </p:cNvGraphicFramePr>
          <p:nvPr/>
        </p:nvGraphicFramePr>
        <p:xfrm>
          <a:off x="1063368" y="3880883"/>
          <a:ext cx="5837237" cy="244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" name="Documento" r:id="rId5" imgW="6096736" imgH="2555371" progId="Word.Document.12">
                  <p:embed/>
                </p:oleObj>
              </mc:Choice>
              <mc:Fallback>
                <p:oleObj name="Documento" r:id="rId5" imgW="6096736" imgH="2555371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368" y="3880883"/>
                        <a:ext cx="5837237" cy="244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12 Objeto"/>
          <p:cNvGraphicFramePr>
            <a:graphicFrameLocks noChangeAspect="1"/>
          </p:cNvGraphicFramePr>
          <p:nvPr/>
        </p:nvGraphicFramePr>
        <p:xfrm>
          <a:off x="5645150" y="3859213"/>
          <a:ext cx="5837238" cy="244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" name="Documento" r:id="rId8" imgW="6096736" imgH="2555371" progId="Word.Document.12">
                  <p:embed/>
                </p:oleObj>
              </mc:Choice>
              <mc:Fallback>
                <p:oleObj name="Documento" r:id="rId8" imgW="6096736" imgH="2555371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5150" y="3859213"/>
                        <a:ext cx="5837238" cy="244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1300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82" b="1789"/>
          <a:stretch/>
        </p:blipFill>
        <p:spPr bwMode="auto">
          <a:xfrm>
            <a:off x="2912619" y="978194"/>
            <a:ext cx="7330500" cy="4072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18428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7442</TotalTime>
  <Words>1345</Words>
  <Application>Microsoft Office PowerPoint</Application>
  <PresentationFormat>Personalizado</PresentationFormat>
  <Paragraphs>166</Paragraphs>
  <Slides>5</Slides>
  <Notes>1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7" baseType="lpstr">
      <vt:lpstr>Tema de Office</vt:lpstr>
      <vt:lpstr>Documento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Bárbara</dc:creator>
  <cp:lastModifiedBy>Usuario de Windows</cp:lastModifiedBy>
  <cp:revision>252</cp:revision>
  <dcterms:created xsi:type="dcterms:W3CDTF">2016-12-28T14:04:44Z</dcterms:created>
  <dcterms:modified xsi:type="dcterms:W3CDTF">2020-01-30T17:42:38Z</dcterms:modified>
</cp:coreProperties>
</file>